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62" r:id="rId2"/>
    <p:sldId id="263" r:id="rId3"/>
    <p:sldId id="264" r:id="rId4"/>
    <p:sldId id="265" r:id="rId5"/>
    <p:sldId id="266" r:id="rId6"/>
    <p:sldId id="267" r:id="rId7"/>
    <p:sldId id="25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2FD"/>
    <a:srgbClr val="0050A0"/>
    <a:srgbClr val="E8F5E9"/>
    <a:srgbClr val="666666"/>
    <a:srgbClr val="2A762E"/>
    <a:srgbClr val="E95800"/>
    <a:srgbClr val="4F73DF"/>
    <a:srgbClr val="135DB9"/>
    <a:srgbClr val="C22425"/>
    <a:srgbClr val="0028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9"/>
    <p:restoredTop sz="93322"/>
  </p:normalViewPr>
  <p:slideViewPr>
    <p:cSldViewPr snapToGrid="0">
      <p:cViewPr varScale="1">
        <p:scale>
          <a:sx n="204" d="100"/>
          <a:sy n="204" d="100"/>
        </p:scale>
        <p:origin x="8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alexli/Documents/work/2_&#24037;&#20316;&#27719;&#25253;-&#31649;&#29702;&amp;&#36130;&#32463;/&#29577;&#29647;&#24635;&#27719;&#25253;/2026H1&#36130;&#32463;&#27719;&#25253;/2026&#24180;&#24230;&#24180;&#32456;&#27719;&#25253;_&#22270;&#34920;&#25968;&#25454;&#27719;&#24635;-WB_&#20462;&#22797;&#29256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alexli/Documents/work/2_&#24037;&#20316;&#27719;&#25253;-&#31649;&#29702;&amp;&#36130;&#32463;/&#29577;&#29647;&#24635;&#27719;&#25253;/2026H1&#36130;&#32463;&#27719;&#25253;/2026&#24180;&#24230;&#24180;&#32456;&#27719;&#25253;_&#22270;&#34920;&#25968;&#25454;&#27719;&#24635;-WB_&#20462;&#22797;&#29256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/Users/alexli/Documents/work/2_&#24037;&#20316;&#27719;&#25253;-&#31649;&#29702;&amp;&#36130;&#32463;/&#29577;&#29647;&#24635;&#27719;&#25253;/2026H1&#36130;&#32463;&#27719;&#25253;/2026&#24180;&#24230;&#24180;&#32456;&#27719;&#25253;_&#22270;&#34920;&#25968;&#25454;&#27719;&#24635;-WB_&#20462;&#22797;&#29256;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alexli/Documents/work/2_&#24037;&#20316;&#27719;&#25253;-&#31649;&#29702;&amp;&#36130;&#32463;/&#29577;&#29647;&#24635;&#27719;&#25253;/2026H1&#36130;&#32463;&#27719;&#25253;/2026&#24180;&#24230;&#24180;&#32456;&#27719;&#25253;_&#22270;&#34920;&#25968;&#25454;&#27719;&#24635;-WB_&#20462;&#22797;&#29256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alexli/Documents/work/2_&#24037;&#20316;&#27719;&#25253;-&#31649;&#29702;&amp;&#36130;&#32463;/&#29577;&#29647;&#24635;&#27719;&#25253;/2026H1&#36130;&#32463;&#27719;&#25253;/2026&#24180;&#24230;&#24180;&#32456;&#27719;&#25253;_&#22270;&#34920;&#25968;&#25454;&#27719;&#24635;-WB_&#20462;&#22797;&#29256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alexli/Documents/work/2_&#24037;&#20316;&#27719;&#25253;-&#31649;&#29702;&amp;&#36130;&#32463;/&#29577;&#29647;&#24635;&#27719;&#25253;/2026H1&#36130;&#32463;&#27719;&#25253;/&#21307;&#30103;&#32929;&#31080;&#25351;&#25968;2026&#26085;&#25910;&#30424;&#20215;&#19982;&#28072;&#36300;&#24133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alexli/Desktop/2026&#24180;&#21322;&#24180;&#24230;&#27719;&#25253;_&#22270;&#34920;&#25968;&#25454;&#27719;&#2463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r>
              <a:rPr lang="zh-CN" sz="1000" dirty="0"/>
              <a:t>主要</a:t>
            </a:r>
            <a:r>
              <a:rPr lang="zh-CN" altLang="en-US" sz="1000" dirty="0"/>
              <a:t>经济体</a:t>
            </a:r>
            <a:r>
              <a:rPr lang="zh-CN" sz="1000" dirty="0"/>
              <a:t>央行政策利率走势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1108641979958607"/>
          <c:y val="0.22999375732223393"/>
          <c:w val="0.84449612282139908"/>
          <c:h val="0.49771325300127783"/>
        </c:manualLayout>
      </c:layout>
      <c:lineChart>
        <c:grouping val="standard"/>
        <c:varyColors val="0"/>
        <c:ser>
          <c:idx val="0"/>
          <c:order val="0"/>
          <c:tx>
            <c:strRef>
              <c:f>'2-货币政策'!$A$21</c:f>
              <c:strCache>
                <c:ptCount val="1"/>
                <c:pt idx="0">
                  <c:v>美联储(联邦基金利率)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2.5089467447670694E-3"/>
                  <c:y val="-3.243510619753382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E2E-1348-9B66-B9E88238DA6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'2-货币政策'!$B$20:$F$20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2026H1</c:v>
                </c:pt>
              </c:strCache>
            </c:strRef>
          </c:cat>
          <c:val>
            <c:numRef>
              <c:f>'2-货币政策'!$B$21:$F$21</c:f>
              <c:numCache>
                <c:formatCode>0.00%</c:formatCode>
                <c:ptCount val="5"/>
                <c:pt idx="0">
                  <c:v>4.4999999999999998E-2</c:v>
                </c:pt>
                <c:pt idx="1">
                  <c:v>5.5E-2</c:v>
                </c:pt>
                <c:pt idx="2">
                  <c:v>4.7500000000000001E-2</c:v>
                </c:pt>
                <c:pt idx="3">
                  <c:v>3.7499999999999999E-2</c:v>
                </c:pt>
                <c:pt idx="4">
                  <c:v>3.7499999999999999E-2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9F-DA4D-A707-E8264B04E974}"/>
            </c:ext>
          </c:extLst>
        </c:ser>
        <c:ser>
          <c:idx val="1"/>
          <c:order val="1"/>
          <c:tx>
            <c:strRef>
              <c:f>'2-货币政策'!$A$22</c:f>
              <c:strCache>
                <c:ptCount val="1"/>
                <c:pt idx="0">
                  <c:v>欧央行(再融资利率)</c:v>
                </c:pt>
              </c:strCache>
            </c:strRef>
          </c:tx>
          <c:spPr>
            <a:ln w="19050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9525">
                <a:solidFill>
                  <a:srgbClr val="7030A0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2.9169732648255879E-3"/>
                  <c:y val="-7.2061459336428685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E2E-1348-9B66-B9E88238DA6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'2-货币政策'!$B$20:$F$20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2026H1</c:v>
                </c:pt>
              </c:strCache>
            </c:strRef>
          </c:cat>
          <c:val>
            <c:numRef>
              <c:f>'2-货币政策'!$B$22:$F$22</c:f>
              <c:numCache>
                <c:formatCode>0.00%</c:formatCode>
                <c:ptCount val="5"/>
                <c:pt idx="0">
                  <c:v>2.5000000000000001E-2</c:v>
                </c:pt>
                <c:pt idx="1">
                  <c:v>4.4999999999999998E-2</c:v>
                </c:pt>
                <c:pt idx="2">
                  <c:v>0.03</c:v>
                </c:pt>
                <c:pt idx="3">
                  <c:v>0.02</c:v>
                </c:pt>
                <c:pt idx="4">
                  <c:v>2.2499999999999999E-2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49F-DA4D-A707-E8264B04E974}"/>
            </c:ext>
          </c:extLst>
        </c:ser>
        <c:ser>
          <c:idx val="2"/>
          <c:order val="2"/>
          <c:tx>
            <c:strRef>
              <c:f>'2-货币政策'!$A$23</c:f>
              <c:strCache>
                <c:ptCount val="1"/>
                <c:pt idx="0">
                  <c:v>日本央行(政策利率)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3"/>
              <c:layout>
                <c:manualLayout>
                  <c:x val="-4.9959932906006511E-2"/>
                  <c:y val="-4.504958632947935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E2E-1348-9B66-B9E88238DA64}"/>
                </c:ext>
              </c:extLst>
            </c:dLbl>
            <c:dLbl>
              <c:idx val="4"/>
              <c:layout>
                <c:manualLayout>
                  <c:x val="1.6609455056989221E-2"/>
                  <c:y val="1.17155742642754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E2E-1348-9B66-B9E88238DA6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'2-货币政策'!$B$20:$F$20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2026H1</c:v>
                </c:pt>
              </c:strCache>
            </c:strRef>
          </c:cat>
          <c:val>
            <c:numRef>
              <c:f>'2-货币政策'!$B$23:$F$23</c:f>
              <c:numCache>
                <c:formatCode>0.00%</c:formatCode>
                <c:ptCount val="5"/>
                <c:pt idx="0">
                  <c:v>-1E-3</c:v>
                </c:pt>
                <c:pt idx="1">
                  <c:v>0</c:v>
                </c:pt>
                <c:pt idx="2">
                  <c:v>2.5000000000000001E-3</c:v>
                </c:pt>
                <c:pt idx="3">
                  <c:v>7.4999999999999997E-3</c:v>
                </c:pt>
                <c:pt idx="4">
                  <c:v>0.01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49F-DA4D-A707-E8264B04E974}"/>
            </c:ext>
          </c:extLst>
        </c:ser>
        <c:ser>
          <c:idx val="3"/>
          <c:order val="3"/>
          <c:tx>
            <c:strRef>
              <c:f>'2-货币政策'!$A$24</c:f>
              <c:strCache>
                <c:ptCount val="1"/>
                <c:pt idx="0">
                  <c:v>中国(1年期LPR)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dLbl>
              <c:idx val="2"/>
              <c:layout>
                <c:manualLayout>
                  <c:x val="-0.10988709323294955"/>
                  <c:y val="4.325177459413903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E2E-1348-9B66-B9E88238DA64}"/>
                </c:ext>
              </c:extLst>
            </c:dLbl>
            <c:dLbl>
              <c:idx val="4"/>
              <c:layout>
                <c:manualLayout>
                  <c:x val="1.7017481577047612E-2"/>
                  <c:y val="-1.351338599961566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E2E-1348-9B66-B9E88238DA6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'2-货币政策'!$B$20:$F$20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2026H1</c:v>
                </c:pt>
              </c:strCache>
            </c:strRef>
          </c:cat>
          <c:val>
            <c:numRef>
              <c:f>'2-货币政策'!$B$24:$F$24</c:f>
              <c:numCache>
                <c:formatCode>0.00%</c:formatCode>
                <c:ptCount val="5"/>
                <c:pt idx="0">
                  <c:v>3.6499999999999998E-2</c:v>
                </c:pt>
                <c:pt idx="1">
                  <c:v>3.4500000000000003E-2</c:v>
                </c:pt>
                <c:pt idx="2">
                  <c:v>3.1E-2</c:v>
                </c:pt>
                <c:pt idx="3">
                  <c:v>0.03</c:v>
                </c:pt>
                <c:pt idx="4">
                  <c:v>0.03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49F-DA4D-A707-E8264B04E97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45976191"/>
        <c:axId val="1422350911"/>
      </c:lineChart>
      <c:catAx>
        <c:axId val="1445976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CN"/>
          </a:p>
        </c:txPr>
        <c:crossAx val="1422350911"/>
        <c:crosses val="autoZero"/>
        <c:auto val="1"/>
        <c:lblAlgn val="ctr"/>
        <c:lblOffset val="100"/>
        <c:noMultiLvlLbl val="0"/>
      </c:catAx>
      <c:valAx>
        <c:axId val="1422350911"/>
        <c:scaling>
          <c:orientation val="minMax"/>
          <c:max val="7.0000000000000007E-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CN"/>
          </a:p>
        </c:txPr>
        <c:crossAx val="1445976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600">
          <a:latin typeface="Microsoft YaHei" panose="020B0503020204020204" pitchFamily="34" charset="-122"/>
          <a:ea typeface="Microsoft YaHei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r>
              <a:rPr lang="zh-CN" sz="1000" dirty="0"/>
              <a:t>中国进出口同比增速（</a:t>
            </a:r>
            <a:r>
              <a:rPr lang="en-US" sz="1000" dirty="0"/>
              <a:t>%</a:t>
            </a:r>
            <a:r>
              <a:rPr lang="zh-CN" sz="1000" dirty="0"/>
              <a:t>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6126106800838497E-2"/>
          <c:y val="0.23434575296775512"/>
          <c:w val="0.89678584399338201"/>
          <c:h val="0.49985076176064375"/>
        </c:manualLayout>
      </c:layout>
      <c:lineChart>
        <c:grouping val="standard"/>
        <c:varyColors val="0"/>
        <c:ser>
          <c:idx val="0"/>
          <c:order val="0"/>
          <c:tx>
            <c:strRef>
              <c:f>'3-中国经济指标'!$A$24</c:f>
              <c:strCache>
                <c:ptCount val="1"/>
                <c:pt idx="0">
                  <c:v>出口同比增速(%)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5.497868818252578E-3"/>
                  <c:y val="-1.5892258433947056E-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C8F-784B-88E3-099D01851F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'3-中国经济指标'!$B$23:$F$23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2026Q1</c:v>
                </c:pt>
              </c:strCache>
            </c:strRef>
          </c:cat>
          <c:val>
            <c:numRef>
              <c:f>'3-中国经济指标'!$B$24:$F$24</c:f>
              <c:numCache>
                <c:formatCode>General</c:formatCode>
                <c:ptCount val="5"/>
                <c:pt idx="0">
                  <c:v>10.3</c:v>
                </c:pt>
                <c:pt idx="1">
                  <c:v>0.6</c:v>
                </c:pt>
                <c:pt idx="2">
                  <c:v>7.1</c:v>
                </c:pt>
                <c:pt idx="3">
                  <c:v>6.1</c:v>
                </c:pt>
                <c:pt idx="4">
                  <c:v>11.9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47-2048-B4B1-5BC1674EC5F3}"/>
            </c:ext>
          </c:extLst>
        </c:ser>
        <c:ser>
          <c:idx val="1"/>
          <c:order val="1"/>
          <c:tx>
            <c:strRef>
              <c:f>'3-中国经济指标'!$A$25</c:f>
              <c:strCache>
                <c:ptCount val="1"/>
                <c:pt idx="0">
                  <c:v>进口同比增速(%)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9.515901827976446E-2"/>
                  <c:y val="1.89058279394841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C8F-784B-88E3-099D01851F48}"/>
                </c:ext>
              </c:extLst>
            </c:dLbl>
            <c:dLbl>
              <c:idx val="2"/>
              <c:layout>
                <c:manualLayout>
                  <c:x val="-3.4627338289784731E-2"/>
                  <c:y val="-5.047381278621596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C8F-784B-88E3-099D01851F48}"/>
                </c:ext>
              </c:extLst>
            </c:dLbl>
            <c:dLbl>
              <c:idx val="3"/>
              <c:layout>
                <c:manualLayout>
                  <c:x val="-5.6618813562795044E-2"/>
                  <c:y val="-4.416657272024310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C8F-784B-88E3-099D01851F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'3-中国经济指标'!$B$23:$F$23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2026Q1</c:v>
                </c:pt>
              </c:strCache>
            </c:strRef>
          </c:cat>
          <c:val>
            <c:numRef>
              <c:f>'3-中国经济指标'!$B$25:$F$25</c:f>
              <c:numCache>
                <c:formatCode>General</c:formatCode>
                <c:ptCount val="5"/>
                <c:pt idx="0">
                  <c:v>1.1000000000000001</c:v>
                </c:pt>
                <c:pt idx="1">
                  <c:v>-0.3</c:v>
                </c:pt>
                <c:pt idx="2">
                  <c:v>1.1000000000000001</c:v>
                </c:pt>
                <c:pt idx="3">
                  <c:v>0.5</c:v>
                </c:pt>
                <c:pt idx="4">
                  <c:v>19.600000000000001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47-2048-B4B1-5BC1674EC5F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93541695"/>
        <c:axId val="1293540351"/>
      </c:lineChart>
      <c:catAx>
        <c:axId val="1293541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CN"/>
          </a:p>
        </c:txPr>
        <c:crossAx val="1293540351"/>
        <c:crosses val="autoZero"/>
        <c:auto val="1"/>
        <c:lblAlgn val="ctr"/>
        <c:lblOffset val="100"/>
        <c:noMultiLvlLbl val="0"/>
      </c:catAx>
      <c:valAx>
        <c:axId val="1293540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CN"/>
          </a:p>
        </c:txPr>
        <c:crossAx val="12935416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882463007524866"/>
          <c:y val="0.80357615545409888"/>
          <c:w val="0.62235073984950273"/>
          <c:h val="9.55080034903372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icrosoft YaHei" panose="020B0503020204020204" pitchFamily="34" charset="-122"/>
          <a:ea typeface="Microsoft YaHei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主要经济体</a:t>
            </a:r>
            <a:r>
              <a:rPr lang="en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GDP</a:t>
            </a:r>
            <a:r>
              <a:rPr lang="zh-CN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增速对比（</a:t>
            </a:r>
            <a:r>
              <a:rPr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%</a:t>
            </a:r>
            <a:r>
              <a:rPr lang="zh-CN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000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'1-全球GDP增速'!$B$34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'1-全球GDP增速'!$A$35:$A$39</c:f>
              <c:strCache>
                <c:ptCount val="5"/>
                <c:pt idx="0">
                  <c:v>全球</c:v>
                </c:pt>
                <c:pt idx="1">
                  <c:v>美国</c:v>
                </c:pt>
                <c:pt idx="2">
                  <c:v>中国</c:v>
                </c:pt>
                <c:pt idx="3">
                  <c:v>欧盟</c:v>
                </c:pt>
                <c:pt idx="4">
                  <c:v>日本</c:v>
                </c:pt>
              </c:strCache>
            </c:strRef>
          </c:cat>
          <c:val>
            <c:numRef>
              <c:f>'1-全球GDP增速'!$B$35:$B$39</c:f>
              <c:numCache>
                <c:formatCode>0.0</c:formatCode>
                <c:ptCount val="5"/>
                <c:pt idx="0">
                  <c:v>3.4</c:v>
                </c:pt>
                <c:pt idx="1">
                  <c:v>2.1</c:v>
                </c:pt>
                <c:pt idx="2">
                  <c:v>3</c:v>
                </c:pt>
                <c:pt idx="3">
                  <c:v>3.7</c:v>
                </c:pt>
                <c:pt idx="4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A7-8244-B23D-09CEB45299F4}"/>
            </c:ext>
          </c:extLst>
        </c:ser>
        <c:ser>
          <c:idx val="1"/>
          <c:order val="1"/>
          <c:tx>
            <c:strRef>
              <c:f>'1-全球GDP增速'!$C$34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'1-全球GDP增速'!$A$35:$A$39</c:f>
              <c:strCache>
                <c:ptCount val="5"/>
                <c:pt idx="0">
                  <c:v>全球</c:v>
                </c:pt>
                <c:pt idx="1">
                  <c:v>美国</c:v>
                </c:pt>
                <c:pt idx="2">
                  <c:v>中国</c:v>
                </c:pt>
                <c:pt idx="3">
                  <c:v>欧盟</c:v>
                </c:pt>
                <c:pt idx="4">
                  <c:v>日本</c:v>
                </c:pt>
              </c:strCache>
            </c:strRef>
          </c:cat>
          <c:val>
            <c:numRef>
              <c:f>'1-全球GDP增速'!$C$35:$C$39</c:f>
              <c:numCache>
                <c:formatCode>0.0</c:formatCode>
                <c:ptCount val="5"/>
                <c:pt idx="0">
                  <c:v>3.3</c:v>
                </c:pt>
                <c:pt idx="1">
                  <c:v>2.5</c:v>
                </c:pt>
                <c:pt idx="2">
                  <c:v>5.2</c:v>
                </c:pt>
                <c:pt idx="3">
                  <c:v>0.5</c:v>
                </c:pt>
                <c:pt idx="4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A7-8244-B23D-09CEB45299F4}"/>
            </c:ext>
          </c:extLst>
        </c:ser>
        <c:ser>
          <c:idx val="2"/>
          <c:order val="2"/>
          <c:tx>
            <c:strRef>
              <c:f>'1-全球GDP增速'!$D$34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'1-全球GDP增速'!$A$35:$A$39</c:f>
              <c:strCache>
                <c:ptCount val="5"/>
                <c:pt idx="0">
                  <c:v>全球</c:v>
                </c:pt>
                <c:pt idx="1">
                  <c:v>美国</c:v>
                </c:pt>
                <c:pt idx="2">
                  <c:v>中国</c:v>
                </c:pt>
                <c:pt idx="3">
                  <c:v>欧盟</c:v>
                </c:pt>
                <c:pt idx="4">
                  <c:v>日本</c:v>
                </c:pt>
              </c:strCache>
            </c:strRef>
          </c:cat>
          <c:val>
            <c:numRef>
              <c:f>'1-全球GDP增速'!$D$35:$D$39</c:f>
              <c:numCache>
                <c:formatCode>0.0</c:formatCode>
                <c:ptCount val="5"/>
                <c:pt idx="0">
                  <c:v>3.2</c:v>
                </c:pt>
                <c:pt idx="1">
                  <c:v>2.8</c:v>
                </c:pt>
                <c:pt idx="2">
                  <c:v>5</c:v>
                </c:pt>
                <c:pt idx="3">
                  <c:v>1.1000000000000001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CA7-8244-B23D-09CEB45299F4}"/>
            </c:ext>
          </c:extLst>
        </c:ser>
        <c:ser>
          <c:idx val="3"/>
          <c:order val="3"/>
          <c:tx>
            <c:strRef>
              <c:f>'1-全球GDP增速'!$E$34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'1-全球GDP增速'!$A$35:$A$39</c:f>
              <c:strCache>
                <c:ptCount val="5"/>
                <c:pt idx="0">
                  <c:v>全球</c:v>
                </c:pt>
                <c:pt idx="1">
                  <c:v>美国</c:v>
                </c:pt>
                <c:pt idx="2">
                  <c:v>中国</c:v>
                </c:pt>
                <c:pt idx="3">
                  <c:v>欧盟</c:v>
                </c:pt>
                <c:pt idx="4">
                  <c:v>日本</c:v>
                </c:pt>
              </c:strCache>
            </c:strRef>
          </c:cat>
          <c:val>
            <c:numRef>
              <c:f>'1-全球GDP增速'!$E$35:$E$39</c:f>
              <c:numCache>
                <c:formatCode>0.0</c:formatCode>
                <c:ptCount val="5"/>
                <c:pt idx="0">
                  <c:v>3.2</c:v>
                </c:pt>
                <c:pt idx="1">
                  <c:v>2.2000000000000002</c:v>
                </c:pt>
                <c:pt idx="2">
                  <c:v>5</c:v>
                </c:pt>
                <c:pt idx="3">
                  <c:v>1.2</c:v>
                </c:pt>
                <c:pt idx="4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CA7-8244-B23D-09CEB45299F4}"/>
            </c:ext>
          </c:extLst>
        </c:ser>
        <c:ser>
          <c:idx val="4"/>
          <c:order val="4"/>
          <c:tx>
            <c:strRef>
              <c:f>'1-全球GDP增速'!$F$34</c:f>
              <c:strCache>
                <c:ptCount val="1"/>
                <c:pt idx="0">
                  <c:v>2026Q1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'1-全球GDP增速'!$A$35:$A$39</c:f>
              <c:strCache>
                <c:ptCount val="5"/>
                <c:pt idx="0">
                  <c:v>全球</c:v>
                </c:pt>
                <c:pt idx="1">
                  <c:v>美国</c:v>
                </c:pt>
                <c:pt idx="2">
                  <c:v>中国</c:v>
                </c:pt>
                <c:pt idx="3">
                  <c:v>欧盟</c:v>
                </c:pt>
                <c:pt idx="4">
                  <c:v>日本</c:v>
                </c:pt>
              </c:strCache>
            </c:strRef>
          </c:cat>
          <c:val>
            <c:numRef>
              <c:f>'1-全球GDP增速'!$F$35:$F$39</c:f>
              <c:numCache>
                <c:formatCode>0.0</c:formatCode>
                <c:ptCount val="5"/>
                <c:pt idx="0">
                  <c:v>2.9000000000000004</c:v>
                </c:pt>
                <c:pt idx="1">
                  <c:v>2.1</c:v>
                </c:pt>
                <c:pt idx="2">
                  <c:v>5</c:v>
                </c:pt>
                <c:pt idx="3">
                  <c:v>1</c:v>
                </c:pt>
                <c:pt idx="4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CA7-8244-B23D-09CEB45299F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72788543"/>
        <c:axId val="1272787199"/>
      </c:barChart>
      <c:catAx>
        <c:axId val="1272788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72787199"/>
        <c:crosses val="autoZero"/>
        <c:auto val="1"/>
        <c:lblAlgn val="ctr"/>
        <c:lblOffset val="100"/>
        <c:noMultiLvlLbl val="0"/>
      </c:catAx>
      <c:valAx>
        <c:axId val="1272787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727885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r>
              <a:rPr lang="zh-CN" sz="1000" dirty="0"/>
              <a:t>中国</a:t>
            </a:r>
            <a:r>
              <a:rPr lang="en" sz="1000" dirty="0"/>
              <a:t>CPI/PPI</a:t>
            </a:r>
            <a:r>
              <a:rPr lang="zh-CN" sz="1000" dirty="0"/>
              <a:t>走势（</a:t>
            </a:r>
            <a:r>
              <a:rPr lang="en-US" sz="1000" dirty="0"/>
              <a:t>%</a:t>
            </a:r>
            <a:r>
              <a:rPr lang="zh-CN" sz="1000" dirty="0"/>
              <a:t>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'3-中国经济指标'!$A$43</c:f>
              <c:strCache>
                <c:ptCount val="1"/>
                <c:pt idx="0">
                  <c:v>CPI同比涨幅(%)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4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19050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BEFE-E54B-8FFC-81D4362A49C6}"/>
              </c:ext>
            </c:extLst>
          </c:dPt>
          <c:dLbls>
            <c:dLbl>
              <c:idx val="0"/>
              <c:layout>
                <c:manualLayout>
                  <c:x val="-6.1211489395182589E-2"/>
                  <c:y val="9.129030195230430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DFA-A54E-BD50-8781D118BE5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'3-中国经济指标'!$B$42:$F$42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2026Q1</c:v>
                </c:pt>
              </c:strCache>
            </c:strRef>
          </c:cat>
          <c:val>
            <c:numRef>
              <c:f>'3-中国经济指标'!$B$43:$F$43</c:f>
              <c:numCache>
                <c:formatCode>0.0</c:formatCode>
                <c:ptCount val="5"/>
                <c:pt idx="0">
                  <c:v>2</c:v>
                </c:pt>
                <c:pt idx="1">
                  <c:v>0.2</c:v>
                </c:pt>
                <c:pt idx="2">
                  <c:v>0.2</c:v>
                </c:pt>
                <c:pt idx="3">
                  <c:v>0</c:v>
                </c:pt>
                <c:pt idx="4">
                  <c:v>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EFE-E54B-8FFC-81D4362A49C6}"/>
            </c:ext>
          </c:extLst>
        </c:ser>
        <c:ser>
          <c:idx val="1"/>
          <c:order val="1"/>
          <c:tx>
            <c:strRef>
              <c:f>'3-中国经济指标'!$A$44</c:f>
              <c:strCache>
                <c:ptCount val="1"/>
                <c:pt idx="0">
                  <c:v>PPI同比涨幅(%)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5.6679292787375442E-2"/>
                  <c:y val="7.625071349228718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DFA-A54E-BD50-8781D118BE5A}"/>
                </c:ext>
              </c:extLst>
            </c:dLbl>
            <c:dLbl>
              <c:idx val="2"/>
              <c:layout>
                <c:manualLayout>
                  <c:x val="-6.3816610279985225E-2"/>
                  <c:y val="7.62507134922870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DFA-A54E-BD50-8781D118BE5A}"/>
                </c:ext>
              </c:extLst>
            </c:dLbl>
            <c:dLbl>
              <c:idx val="3"/>
              <c:layout>
                <c:manualLayout>
                  <c:x val="-6.0247951533680399E-2"/>
                  <c:y val="0.1063298904123215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DFA-A54E-BD50-8781D118BE5A}"/>
                </c:ext>
              </c:extLst>
            </c:dLbl>
            <c:dLbl>
              <c:idx val="4"/>
              <c:layout>
                <c:manualLayout>
                  <c:x val="-5.3110634041070484E-2"/>
                  <c:y val="9.129030195230437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DFA-A54E-BD50-8781D118BE5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'3-中国经济指标'!$B$42:$F$42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2026Q1</c:v>
                </c:pt>
              </c:strCache>
            </c:strRef>
          </c:cat>
          <c:val>
            <c:numRef>
              <c:f>'3-中国经济指标'!$B$44:$F$44</c:f>
              <c:numCache>
                <c:formatCode>0.0</c:formatCode>
                <c:ptCount val="5"/>
                <c:pt idx="0">
                  <c:v>4.0999999999999996</c:v>
                </c:pt>
                <c:pt idx="1">
                  <c:v>-3</c:v>
                </c:pt>
                <c:pt idx="2">
                  <c:v>-2.2000000000000002</c:v>
                </c:pt>
                <c:pt idx="3">
                  <c:v>-2.4</c:v>
                </c:pt>
                <c:pt idx="4">
                  <c:v>-0.6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EFE-E54B-8FFC-81D4362A49C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72780031"/>
        <c:axId val="1272790335"/>
      </c:lineChart>
      <c:catAx>
        <c:axId val="1272780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CN"/>
          </a:p>
        </c:txPr>
        <c:crossAx val="1272790335"/>
        <c:crosses val="autoZero"/>
        <c:auto val="1"/>
        <c:lblAlgn val="ctr"/>
        <c:lblOffset val="100"/>
        <c:noMultiLvlLbl val="0"/>
      </c:catAx>
      <c:valAx>
        <c:axId val="12727903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CN"/>
          </a:p>
        </c:txPr>
        <c:crossAx val="12727800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Microsoft YaHei" panose="020B0503020204020204" pitchFamily="34" charset="-122"/>
          <a:ea typeface="Microsoft YaHei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45525954442985E-2"/>
          <c:y val="0.18750387484630809"/>
          <c:w val="0.8142399294653353"/>
          <c:h val="0.59188127826469761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BD趋势!$D$3</c:f>
              <c:strCache>
                <c:ptCount val="1"/>
                <c:pt idx="0">
                  <c:v>BD交易金额（亿美元）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2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BA8-E04B-84D4-80BE9F46D2C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BD趋势!$B$4:$B$16</c:f>
              <c:strCache>
                <c:ptCount val="1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2026Q1</c:v>
                </c:pt>
                <c:pt idx="12">
                  <c:v>2026E</c:v>
                </c:pt>
              </c:strCache>
            </c:strRef>
          </c:cat>
          <c:val>
            <c:numRef>
              <c:f>BD趋势!$D$4:$D$16</c:f>
              <c:numCache>
                <c:formatCode>_(* #,##0_);_(* \(#,##0\);_(* "-"??_);_(@_)</c:formatCode>
                <c:ptCount val="13"/>
                <c:pt idx="0">
                  <c:v>25</c:v>
                </c:pt>
                <c:pt idx="1">
                  <c:v>3</c:v>
                </c:pt>
                <c:pt idx="2">
                  <c:v>39</c:v>
                </c:pt>
                <c:pt idx="3">
                  <c:v>10</c:v>
                </c:pt>
                <c:pt idx="4">
                  <c:v>9</c:v>
                </c:pt>
                <c:pt idx="5">
                  <c:v>84</c:v>
                </c:pt>
                <c:pt idx="6">
                  <c:v>134</c:v>
                </c:pt>
                <c:pt idx="7">
                  <c:v>277</c:v>
                </c:pt>
                <c:pt idx="8">
                  <c:v>411</c:v>
                </c:pt>
                <c:pt idx="9">
                  <c:v>519</c:v>
                </c:pt>
                <c:pt idx="10">
                  <c:v>1357</c:v>
                </c:pt>
                <c:pt idx="11">
                  <c:v>614</c:v>
                </c:pt>
                <c:pt idx="12">
                  <c:v>1600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A8-E04B-84D4-80BE9F46D2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16128912"/>
        <c:axId val="1316130624"/>
      </c:barChart>
      <c:lineChart>
        <c:grouping val="standard"/>
        <c:varyColors val="0"/>
        <c:ser>
          <c:idx val="0"/>
          <c:order val="0"/>
          <c:tx>
            <c:strRef>
              <c:f>BD趋势!$C$3</c:f>
              <c:strCache>
                <c:ptCount val="1"/>
                <c:pt idx="0">
                  <c:v>BD交易数量（起）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BD趋势!$B$4:$B$16</c:f>
              <c:strCache>
                <c:ptCount val="1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2026Q1</c:v>
                </c:pt>
                <c:pt idx="12">
                  <c:v>2026E</c:v>
                </c:pt>
              </c:strCache>
            </c:strRef>
          </c:cat>
          <c:val>
            <c:numRef>
              <c:f>BD趋势!$C$4:$C$16</c:f>
              <c:numCache>
                <c:formatCode>_(* #,##0_);_(* \(#,##0\);_(* "-"??_);_(@_)</c:formatCode>
                <c:ptCount val="13"/>
                <c:pt idx="0">
                  <c:v>5</c:v>
                </c:pt>
                <c:pt idx="1">
                  <c:v>6</c:v>
                </c:pt>
                <c:pt idx="2">
                  <c:v>11</c:v>
                </c:pt>
                <c:pt idx="3">
                  <c:v>17</c:v>
                </c:pt>
                <c:pt idx="4">
                  <c:v>22</c:v>
                </c:pt>
                <c:pt idx="5">
                  <c:v>62</c:v>
                </c:pt>
                <c:pt idx="6">
                  <c:v>50</c:v>
                </c:pt>
                <c:pt idx="7">
                  <c:v>61</c:v>
                </c:pt>
                <c:pt idx="8">
                  <c:v>89</c:v>
                </c:pt>
                <c:pt idx="9">
                  <c:v>94</c:v>
                </c:pt>
                <c:pt idx="10">
                  <c:v>157</c:v>
                </c:pt>
                <c:pt idx="11">
                  <c:v>98</c:v>
                </c:pt>
                <c:pt idx="12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BA8-E04B-84D4-80BE9F46D2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20116400"/>
        <c:axId val="1920119712"/>
      </c:lineChart>
      <c:catAx>
        <c:axId val="1316128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CN"/>
          </a:p>
        </c:txPr>
        <c:crossAx val="1316130624"/>
        <c:crosses val="autoZero"/>
        <c:auto val="1"/>
        <c:lblAlgn val="ctr"/>
        <c:lblOffset val="100"/>
        <c:noMultiLvlLbl val="0"/>
      </c:catAx>
      <c:valAx>
        <c:axId val="1316130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CN"/>
          </a:p>
        </c:txPr>
        <c:crossAx val="1316128912"/>
        <c:crosses val="autoZero"/>
        <c:crossBetween val="between"/>
      </c:valAx>
      <c:valAx>
        <c:axId val="1920119712"/>
        <c:scaling>
          <c:orientation val="minMax"/>
        </c:scaling>
        <c:delete val="0"/>
        <c:axPos val="r"/>
        <c:numFmt formatCode="_(* #,##0_);_(* \(#,##0\);_(* &quot;-&quot;??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CN"/>
          </a:p>
        </c:txPr>
        <c:crossAx val="1920116400"/>
        <c:crosses val="max"/>
        <c:crossBetween val="between"/>
      </c:valAx>
      <c:catAx>
        <c:axId val="192011640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201197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Microsoft YaHei" panose="020B0503020204020204" pitchFamily="34" charset="-122"/>
          <a:ea typeface="Microsoft YaHei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884006396359313E-2"/>
          <c:y val="6.0800988832116154E-2"/>
          <c:w val="0.74698095935153142"/>
          <c:h val="0.79360044567081289"/>
        </c:manualLayout>
      </c:layout>
      <c:lineChart>
        <c:grouping val="standard"/>
        <c:varyColors val="0"/>
        <c:ser>
          <c:idx val="0"/>
          <c:order val="0"/>
          <c:tx>
            <c:strRef>
              <c:f>'基准涨跌幅%'!$B$7</c:f>
              <c:strCache>
                <c:ptCount val="1"/>
                <c:pt idx="0">
                  <c:v>上证指数
000001.SH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'基准涨跌幅%'!$A$8:$A$128</c:f>
              <c:numCache>
                <c:formatCode>yyyy\-mm\-dd</c:formatCode>
                <c:ptCount val="121"/>
                <c:pt idx="0">
                  <c:v>46027</c:v>
                </c:pt>
                <c:pt idx="1">
                  <c:v>46028</c:v>
                </c:pt>
                <c:pt idx="2">
                  <c:v>46029</c:v>
                </c:pt>
                <c:pt idx="3">
                  <c:v>46030</c:v>
                </c:pt>
                <c:pt idx="4">
                  <c:v>46031</c:v>
                </c:pt>
                <c:pt idx="5">
                  <c:v>46034</c:v>
                </c:pt>
                <c:pt idx="6">
                  <c:v>46035</c:v>
                </c:pt>
                <c:pt idx="7">
                  <c:v>46036</c:v>
                </c:pt>
                <c:pt idx="8">
                  <c:v>46037</c:v>
                </c:pt>
                <c:pt idx="9">
                  <c:v>46038</c:v>
                </c:pt>
                <c:pt idx="10">
                  <c:v>46041</c:v>
                </c:pt>
                <c:pt idx="11">
                  <c:v>46042</c:v>
                </c:pt>
                <c:pt idx="12">
                  <c:v>46043</c:v>
                </c:pt>
                <c:pt idx="13">
                  <c:v>46044</c:v>
                </c:pt>
                <c:pt idx="14">
                  <c:v>46045</c:v>
                </c:pt>
                <c:pt idx="15">
                  <c:v>46048</c:v>
                </c:pt>
                <c:pt idx="16">
                  <c:v>46049</c:v>
                </c:pt>
                <c:pt idx="17">
                  <c:v>46050</c:v>
                </c:pt>
                <c:pt idx="18">
                  <c:v>46051</c:v>
                </c:pt>
                <c:pt idx="19">
                  <c:v>46052</c:v>
                </c:pt>
                <c:pt idx="20">
                  <c:v>46055</c:v>
                </c:pt>
                <c:pt idx="21">
                  <c:v>46056</c:v>
                </c:pt>
                <c:pt idx="22">
                  <c:v>46057</c:v>
                </c:pt>
                <c:pt idx="23">
                  <c:v>46058</c:v>
                </c:pt>
                <c:pt idx="24">
                  <c:v>46059</c:v>
                </c:pt>
                <c:pt idx="25">
                  <c:v>46062</c:v>
                </c:pt>
                <c:pt idx="26">
                  <c:v>46063</c:v>
                </c:pt>
                <c:pt idx="27">
                  <c:v>46064</c:v>
                </c:pt>
                <c:pt idx="28">
                  <c:v>46065</c:v>
                </c:pt>
                <c:pt idx="29">
                  <c:v>46066</c:v>
                </c:pt>
                <c:pt idx="30">
                  <c:v>46077</c:v>
                </c:pt>
                <c:pt idx="31">
                  <c:v>46078</c:v>
                </c:pt>
                <c:pt idx="32">
                  <c:v>46079</c:v>
                </c:pt>
                <c:pt idx="33">
                  <c:v>46080</c:v>
                </c:pt>
                <c:pt idx="34">
                  <c:v>46083</c:v>
                </c:pt>
                <c:pt idx="35">
                  <c:v>46084</c:v>
                </c:pt>
                <c:pt idx="36">
                  <c:v>46085</c:v>
                </c:pt>
                <c:pt idx="37">
                  <c:v>46086</c:v>
                </c:pt>
                <c:pt idx="38">
                  <c:v>46087</c:v>
                </c:pt>
                <c:pt idx="39">
                  <c:v>46090</c:v>
                </c:pt>
                <c:pt idx="40">
                  <c:v>46091</c:v>
                </c:pt>
                <c:pt idx="41">
                  <c:v>46092</c:v>
                </c:pt>
                <c:pt idx="42">
                  <c:v>46093</c:v>
                </c:pt>
                <c:pt idx="43">
                  <c:v>46094</c:v>
                </c:pt>
                <c:pt idx="44">
                  <c:v>46097</c:v>
                </c:pt>
                <c:pt idx="45">
                  <c:v>46098</c:v>
                </c:pt>
                <c:pt idx="46">
                  <c:v>46099</c:v>
                </c:pt>
                <c:pt idx="47">
                  <c:v>46100</c:v>
                </c:pt>
                <c:pt idx="48">
                  <c:v>46101</c:v>
                </c:pt>
                <c:pt idx="49">
                  <c:v>46104</c:v>
                </c:pt>
                <c:pt idx="50">
                  <c:v>46105</c:v>
                </c:pt>
                <c:pt idx="51">
                  <c:v>46106</c:v>
                </c:pt>
                <c:pt idx="52">
                  <c:v>46107</c:v>
                </c:pt>
                <c:pt idx="53">
                  <c:v>46108</c:v>
                </c:pt>
                <c:pt idx="54">
                  <c:v>46111</c:v>
                </c:pt>
                <c:pt idx="55">
                  <c:v>46112</c:v>
                </c:pt>
                <c:pt idx="56">
                  <c:v>46113</c:v>
                </c:pt>
                <c:pt idx="57">
                  <c:v>46114</c:v>
                </c:pt>
                <c:pt idx="58">
                  <c:v>46115</c:v>
                </c:pt>
                <c:pt idx="59">
                  <c:v>46119</c:v>
                </c:pt>
                <c:pt idx="60">
                  <c:v>46120</c:v>
                </c:pt>
                <c:pt idx="61">
                  <c:v>46121</c:v>
                </c:pt>
                <c:pt idx="62">
                  <c:v>46122</c:v>
                </c:pt>
                <c:pt idx="63">
                  <c:v>46125</c:v>
                </c:pt>
                <c:pt idx="64">
                  <c:v>46126</c:v>
                </c:pt>
                <c:pt idx="65">
                  <c:v>46127</c:v>
                </c:pt>
                <c:pt idx="66">
                  <c:v>46128</c:v>
                </c:pt>
                <c:pt idx="67">
                  <c:v>46129</c:v>
                </c:pt>
                <c:pt idx="68">
                  <c:v>46132</c:v>
                </c:pt>
                <c:pt idx="69">
                  <c:v>46133</c:v>
                </c:pt>
                <c:pt idx="70">
                  <c:v>46134</c:v>
                </c:pt>
                <c:pt idx="71">
                  <c:v>46135</c:v>
                </c:pt>
                <c:pt idx="72">
                  <c:v>46136</c:v>
                </c:pt>
                <c:pt idx="73">
                  <c:v>46139</c:v>
                </c:pt>
                <c:pt idx="74">
                  <c:v>46140</c:v>
                </c:pt>
                <c:pt idx="75">
                  <c:v>46141</c:v>
                </c:pt>
                <c:pt idx="76">
                  <c:v>46142</c:v>
                </c:pt>
                <c:pt idx="77">
                  <c:v>46148</c:v>
                </c:pt>
                <c:pt idx="78">
                  <c:v>46149</c:v>
                </c:pt>
                <c:pt idx="79">
                  <c:v>46150</c:v>
                </c:pt>
                <c:pt idx="80">
                  <c:v>46153</c:v>
                </c:pt>
                <c:pt idx="81">
                  <c:v>46154</c:v>
                </c:pt>
                <c:pt idx="82">
                  <c:v>46155</c:v>
                </c:pt>
                <c:pt idx="83">
                  <c:v>46156</c:v>
                </c:pt>
                <c:pt idx="84">
                  <c:v>46157</c:v>
                </c:pt>
                <c:pt idx="85">
                  <c:v>46160</c:v>
                </c:pt>
                <c:pt idx="86">
                  <c:v>46161</c:v>
                </c:pt>
                <c:pt idx="87">
                  <c:v>46162</c:v>
                </c:pt>
                <c:pt idx="88">
                  <c:v>46163</c:v>
                </c:pt>
                <c:pt idx="89">
                  <c:v>46164</c:v>
                </c:pt>
                <c:pt idx="90">
                  <c:v>46167</c:v>
                </c:pt>
                <c:pt idx="91">
                  <c:v>46168</c:v>
                </c:pt>
                <c:pt idx="92">
                  <c:v>46169</c:v>
                </c:pt>
                <c:pt idx="93">
                  <c:v>46170</c:v>
                </c:pt>
                <c:pt idx="94">
                  <c:v>46171</c:v>
                </c:pt>
                <c:pt idx="95">
                  <c:v>46174</c:v>
                </c:pt>
                <c:pt idx="96">
                  <c:v>46175</c:v>
                </c:pt>
                <c:pt idx="97">
                  <c:v>46176</c:v>
                </c:pt>
                <c:pt idx="98">
                  <c:v>46177</c:v>
                </c:pt>
                <c:pt idx="99">
                  <c:v>46178</c:v>
                </c:pt>
                <c:pt idx="100">
                  <c:v>46181</c:v>
                </c:pt>
                <c:pt idx="101">
                  <c:v>46182</c:v>
                </c:pt>
                <c:pt idx="102">
                  <c:v>46183</c:v>
                </c:pt>
                <c:pt idx="103">
                  <c:v>46184</c:v>
                </c:pt>
                <c:pt idx="104">
                  <c:v>46185</c:v>
                </c:pt>
                <c:pt idx="105">
                  <c:v>46188</c:v>
                </c:pt>
                <c:pt idx="106">
                  <c:v>46189</c:v>
                </c:pt>
                <c:pt idx="107">
                  <c:v>46190</c:v>
                </c:pt>
                <c:pt idx="108">
                  <c:v>46191</c:v>
                </c:pt>
                <c:pt idx="109">
                  <c:v>46195</c:v>
                </c:pt>
                <c:pt idx="110">
                  <c:v>46196</c:v>
                </c:pt>
                <c:pt idx="111">
                  <c:v>46197</c:v>
                </c:pt>
                <c:pt idx="112">
                  <c:v>46198</c:v>
                </c:pt>
                <c:pt idx="113">
                  <c:v>46199</c:v>
                </c:pt>
                <c:pt idx="114">
                  <c:v>46202</c:v>
                </c:pt>
                <c:pt idx="115">
                  <c:v>46203</c:v>
                </c:pt>
                <c:pt idx="116">
                  <c:v>46204</c:v>
                </c:pt>
                <c:pt idx="117">
                  <c:v>46205</c:v>
                </c:pt>
                <c:pt idx="118">
                  <c:v>46206</c:v>
                </c:pt>
                <c:pt idx="119">
                  <c:v>46209</c:v>
                </c:pt>
                <c:pt idx="120">
                  <c:v>46210</c:v>
                </c:pt>
              </c:numCache>
            </c:numRef>
          </c:cat>
          <c:val>
            <c:numRef>
              <c:f>'基准涨跌幅%'!$B$8:$B$128</c:f>
              <c:numCache>
                <c:formatCode>0.00%</c:formatCode>
                <c:ptCount val="121"/>
                <c:pt idx="0">
                  <c:v>0</c:v>
                </c:pt>
                <c:pt idx="1">
                  <c:v>1.4974822414761668E-2</c:v>
                </c:pt>
                <c:pt idx="2">
                  <c:v>1.549676643253739E-2</c:v>
                </c:pt>
                <c:pt idx="3">
                  <c:v>1.4803326523206595E-2</c:v>
                </c:pt>
                <c:pt idx="4">
                  <c:v>2.4111328173543889E-2</c:v>
                </c:pt>
                <c:pt idx="5">
                  <c:v>3.5261046572319099E-2</c:v>
                </c:pt>
                <c:pt idx="6">
                  <c:v>2.8667153814416535E-2</c:v>
                </c:pt>
                <c:pt idx="7">
                  <c:v>2.5518091573835111E-2</c:v>
                </c:pt>
                <c:pt idx="8">
                  <c:v>2.2165222621550962E-2</c:v>
                </c:pt>
                <c:pt idx="9">
                  <c:v>1.9508279026301034E-2</c:v>
                </c:pt>
                <c:pt idx="10">
                  <c:v>2.2513185300068184E-2</c:v>
                </c:pt>
                <c:pt idx="11">
                  <c:v>2.2426194630438712E-2</c:v>
                </c:pt>
                <c:pt idx="12">
                  <c:v>2.3243906924954372E-2</c:v>
                </c:pt>
                <c:pt idx="13">
                  <c:v>2.4645699429838297E-2</c:v>
                </c:pt>
                <c:pt idx="14">
                  <c:v>2.8020937411455948E-2</c:v>
                </c:pt>
                <c:pt idx="15">
                  <c:v>2.7138603476644096E-2</c:v>
                </c:pt>
                <c:pt idx="16">
                  <c:v>2.8950494852637787E-2</c:v>
                </c:pt>
                <c:pt idx="17">
                  <c:v>3.176899254862775E-2</c:v>
                </c:pt>
                <c:pt idx="18">
                  <c:v>3.344418430091789E-2</c:v>
                </c:pt>
                <c:pt idx="19">
                  <c:v>2.3494937143027528E-2</c:v>
                </c:pt>
                <c:pt idx="20">
                  <c:v>-1.9063383887339969E-3</c:v>
                </c:pt>
                <c:pt idx="21">
                  <c:v>1.101550422277553E-2</c:v>
                </c:pt>
                <c:pt idx="22">
                  <c:v>1.9580357009708171E-2</c:v>
                </c:pt>
                <c:pt idx="23">
                  <c:v>1.3048600444398151E-2</c:v>
                </c:pt>
                <c:pt idx="24">
                  <c:v>1.0478647518777473E-2</c:v>
                </c:pt>
                <c:pt idx="25">
                  <c:v>2.477245726272681E-2</c:v>
                </c:pt>
                <c:pt idx="26">
                  <c:v>2.6084773650277615E-2</c:v>
                </c:pt>
                <c:pt idx="27">
                  <c:v>2.6984505719015006E-2</c:v>
                </c:pt>
                <c:pt idx="28">
                  <c:v>2.7489051602865411E-2</c:v>
                </c:pt>
                <c:pt idx="29">
                  <c:v>1.4577150782170367E-2</c:v>
                </c:pt>
                <c:pt idx="30">
                  <c:v>2.3360722967028069E-2</c:v>
                </c:pt>
                <c:pt idx="31">
                  <c:v>3.0772328019446071E-2</c:v>
                </c:pt>
                <c:pt idx="32">
                  <c:v>3.06232011572245E-2</c:v>
                </c:pt>
                <c:pt idx="33">
                  <c:v>3.4662053675728721E-2</c:v>
                </c:pt>
                <c:pt idx="34">
                  <c:v>3.9560871099711292E-2</c:v>
                </c:pt>
                <c:pt idx="35">
                  <c:v>2.4670553906875226E-2</c:v>
                </c:pt>
                <c:pt idx="36">
                  <c:v>1.4676568690318081E-2</c:v>
                </c:pt>
                <c:pt idx="37">
                  <c:v>2.1163587196961764E-2</c:v>
                </c:pt>
                <c:pt idx="38">
                  <c:v>2.5045856510133024E-2</c:v>
                </c:pt>
                <c:pt idx="39">
                  <c:v>1.8188506295639062E-2</c:v>
                </c:pt>
                <c:pt idx="40">
                  <c:v>2.4784884501245275E-2</c:v>
                </c:pt>
                <c:pt idx="41">
                  <c:v>2.7342410188347266E-2</c:v>
                </c:pt>
                <c:pt idx="42">
                  <c:v>2.6266211332647504E-2</c:v>
                </c:pt>
                <c:pt idx="43">
                  <c:v>1.7902679809714162E-2</c:v>
                </c:pt>
                <c:pt idx="44">
                  <c:v>1.5253192557575401E-2</c:v>
                </c:pt>
                <c:pt idx="45">
                  <c:v>6.5839509670877483E-3</c:v>
                </c:pt>
                <c:pt idx="46">
                  <c:v>9.8324311158168864E-3</c:v>
                </c:pt>
                <c:pt idx="47">
                  <c:v>-4.1929502761332005E-3</c:v>
                </c:pt>
                <c:pt idx="48">
                  <c:v>-1.6495916409422828E-2</c:v>
                </c:pt>
                <c:pt idx="49">
                  <c:v>-5.2229198045443903E-2</c:v>
                </c:pt>
                <c:pt idx="50">
                  <c:v>-3.5328153660318828E-2</c:v>
                </c:pt>
                <c:pt idx="51">
                  <c:v>-2.276173007043758E-2</c:v>
                </c:pt>
                <c:pt idx="52">
                  <c:v>-3.3389504451436847E-2</c:v>
                </c:pt>
                <c:pt idx="53">
                  <c:v>-2.7265361309532721E-2</c:v>
                </c:pt>
                <c:pt idx="54">
                  <c:v>-2.4886787857096748E-2</c:v>
                </c:pt>
                <c:pt idx="55">
                  <c:v>-3.26985499898097E-2</c:v>
                </c:pt>
                <c:pt idx="56">
                  <c:v>-1.8608546957563421E-2</c:v>
                </c:pt>
                <c:pt idx="57">
                  <c:v>-2.5880966938574668E-2</c:v>
                </c:pt>
                <c:pt idx="58">
                  <c:v>-3.5621436489354896E-2</c:v>
                </c:pt>
                <c:pt idx="59">
                  <c:v>-3.3121076099437818E-2</c:v>
                </c:pt>
                <c:pt idx="60">
                  <c:v>-7.0636423739007803E-3</c:v>
                </c:pt>
                <c:pt idx="61">
                  <c:v>-1.4229188103653145E-2</c:v>
                </c:pt>
                <c:pt idx="62">
                  <c:v>-9.2458654577449728E-3</c:v>
                </c:pt>
                <c:pt idx="63">
                  <c:v>-8.6642706950803561E-3</c:v>
                </c:pt>
                <c:pt idx="64">
                  <c:v>7.9782871288602841E-4</c:v>
                </c:pt>
                <c:pt idx="65">
                  <c:v>9.4198467970030286E-4</c:v>
                </c:pt>
                <c:pt idx="66">
                  <c:v>7.9857434719716736E-3</c:v>
                </c:pt>
                <c:pt idx="67">
                  <c:v>6.9617390180491956E-3</c:v>
                </c:pt>
                <c:pt idx="68">
                  <c:v>1.459206346839248E-2</c:v>
                </c:pt>
                <c:pt idx="69">
                  <c:v>1.5325270540982538E-2</c:v>
                </c:pt>
                <c:pt idx="70">
                  <c:v>2.0589448777408315E-2</c:v>
                </c:pt>
                <c:pt idx="71">
                  <c:v>1.7355881314901289E-2</c:v>
                </c:pt>
                <c:pt idx="72">
                  <c:v>1.4037808630468662E-2</c:v>
                </c:pt>
                <c:pt idx="73">
                  <c:v>1.5638436951648016E-2</c:v>
                </c:pt>
                <c:pt idx="74">
                  <c:v>1.3724642219802963E-2</c:v>
                </c:pt>
                <c:pt idx="75">
                  <c:v>2.0900129740370144E-2</c:v>
                </c:pt>
                <c:pt idx="76">
                  <c:v>2.205586292258821E-2</c:v>
                </c:pt>
                <c:pt idx="77">
                  <c:v>3.3988497348027336E-2</c:v>
                </c:pt>
                <c:pt idx="78">
                  <c:v>3.8939509173787412E-2</c:v>
                </c:pt>
                <c:pt idx="79">
                  <c:v>3.8904712905935668E-2</c:v>
                </c:pt>
                <c:pt idx="80">
                  <c:v>5.0106625706488606E-2</c:v>
                </c:pt>
                <c:pt idx="81">
                  <c:v>4.7489449274497719E-2</c:v>
                </c:pt>
                <c:pt idx="82">
                  <c:v>5.4468586426472898E-2</c:v>
                </c:pt>
                <c:pt idx="83">
                  <c:v>3.8400167022085707E-2</c:v>
                </c:pt>
                <c:pt idx="84">
                  <c:v>2.7829557938271465E-2</c:v>
                </c:pt>
                <c:pt idx="85">
                  <c:v>2.6870175124645179E-2</c:v>
                </c:pt>
                <c:pt idx="86">
                  <c:v>3.6317361846389451E-2</c:v>
                </c:pt>
                <c:pt idx="87">
                  <c:v>3.4488072336469999E-2</c:v>
                </c:pt>
                <c:pt idx="88">
                  <c:v>1.3386621332100557E-2</c:v>
                </c:pt>
                <c:pt idx="89">
                  <c:v>2.2239786052661525E-2</c:v>
                </c:pt>
                <c:pt idx="90">
                  <c:v>3.2099557093219211E-2</c:v>
                </c:pt>
                <c:pt idx="91">
                  <c:v>3.03100347465588E-2</c:v>
                </c:pt>
                <c:pt idx="92">
                  <c:v>1.7475182804678635E-2</c:v>
                </c:pt>
                <c:pt idx="93">
                  <c:v>1.8695537627192893E-2</c:v>
                </c:pt>
                <c:pt idx="94">
                  <c:v>1.1221796382182347E-2</c:v>
                </c:pt>
                <c:pt idx="95">
                  <c:v>8.5300565190806754E-3</c:v>
                </c:pt>
                <c:pt idx="96">
                  <c:v>1.2844793732694981E-2</c:v>
                </c:pt>
                <c:pt idx="97">
                  <c:v>1.5049385845872454E-2</c:v>
                </c:pt>
                <c:pt idx="98">
                  <c:v>8.5399983098954912E-3</c:v>
                </c:pt>
                <c:pt idx="99">
                  <c:v>1.073713407996113E-3</c:v>
                </c:pt>
                <c:pt idx="100">
                  <c:v>-1.5926748885276676E-2</c:v>
                </c:pt>
                <c:pt idx="101">
                  <c:v>-3.3280144752474428E-3</c:v>
                </c:pt>
                <c:pt idx="102">
                  <c:v>-7.503566617454771E-3</c:v>
                </c:pt>
                <c:pt idx="103">
                  <c:v>-9.0495150891529708E-3</c:v>
                </c:pt>
                <c:pt idx="104">
                  <c:v>2.010727192289119E-3</c:v>
                </c:pt>
                <c:pt idx="105">
                  <c:v>1.8156195475490966E-2</c:v>
                </c:pt>
                <c:pt idx="106">
                  <c:v>1.7017860427198661E-2</c:v>
                </c:pt>
                <c:pt idx="107">
                  <c:v>2.104180025948077E-2</c:v>
                </c:pt>
                <c:pt idx="108">
                  <c:v>1.6667412300977791E-2</c:v>
                </c:pt>
                <c:pt idx="109">
                  <c:v>3.4716733525209875E-2</c:v>
                </c:pt>
                <c:pt idx="110">
                  <c:v>2.0586963329704666E-2</c:v>
                </c:pt>
                <c:pt idx="111">
                  <c:v>2.1720327482589452E-2</c:v>
                </c:pt>
                <c:pt idx="112">
                  <c:v>2.4074046457988496E-2</c:v>
                </c:pt>
                <c:pt idx="113">
                  <c:v>9.5441191821876714E-4</c:v>
                </c:pt>
                <c:pt idx="114">
                  <c:v>1.2546540008251617E-2</c:v>
                </c:pt>
                <c:pt idx="115">
                  <c:v>1.764170780082619E-2</c:v>
                </c:pt>
                <c:pt idx="116">
                  <c:v>2.2127940905995347E-2</c:v>
                </c:pt>
                <c:pt idx="117">
                  <c:v>1.362025341624884E-3</c:v>
                </c:pt>
                <c:pt idx="118">
                  <c:v>5.0255752568708623E-3</c:v>
                </c:pt>
                <c:pt idx="119">
                  <c:v>4.4290678079841328E-3</c:v>
                </c:pt>
                <c:pt idx="120">
                  <c:v>-8.2467154808596455E-3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65-E64B-AD7B-F171BEFC847F}"/>
            </c:ext>
          </c:extLst>
        </c:ser>
        <c:ser>
          <c:idx val="1"/>
          <c:order val="1"/>
          <c:tx>
            <c:strRef>
              <c:f>'基准涨跌幅%'!$C$7</c:f>
              <c:strCache>
                <c:ptCount val="1"/>
                <c:pt idx="0">
                  <c:v>华大基因
300676.SZ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'基准涨跌幅%'!$A$8:$A$128</c:f>
              <c:numCache>
                <c:formatCode>yyyy\-mm\-dd</c:formatCode>
                <c:ptCount val="121"/>
                <c:pt idx="0">
                  <c:v>46027</c:v>
                </c:pt>
                <c:pt idx="1">
                  <c:v>46028</c:v>
                </c:pt>
                <c:pt idx="2">
                  <c:v>46029</c:v>
                </c:pt>
                <c:pt idx="3">
                  <c:v>46030</c:v>
                </c:pt>
                <c:pt idx="4">
                  <c:v>46031</c:v>
                </c:pt>
                <c:pt idx="5">
                  <c:v>46034</c:v>
                </c:pt>
                <c:pt idx="6">
                  <c:v>46035</c:v>
                </c:pt>
                <c:pt idx="7">
                  <c:v>46036</c:v>
                </c:pt>
                <c:pt idx="8">
                  <c:v>46037</c:v>
                </c:pt>
                <c:pt idx="9">
                  <c:v>46038</c:v>
                </c:pt>
                <c:pt idx="10">
                  <c:v>46041</c:v>
                </c:pt>
                <c:pt idx="11">
                  <c:v>46042</c:v>
                </c:pt>
                <c:pt idx="12">
                  <c:v>46043</c:v>
                </c:pt>
                <c:pt idx="13">
                  <c:v>46044</c:v>
                </c:pt>
                <c:pt idx="14">
                  <c:v>46045</c:v>
                </c:pt>
                <c:pt idx="15">
                  <c:v>46048</c:v>
                </c:pt>
                <c:pt idx="16">
                  <c:v>46049</c:v>
                </c:pt>
                <c:pt idx="17">
                  <c:v>46050</c:v>
                </c:pt>
                <c:pt idx="18">
                  <c:v>46051</c:v>
                </c:pt>
                <c:pt idx="19">
                  <c:v>46052</c:v>
                </c:pt>
                <c:pt idx="20">
                  <c:v>46055</c:v>
                </c:pt>
                <c:pt idx="21">
                  <c:v>46056</c:v>
                </c:pt>
                <c:pt idx="22">
                  <c:v>46057</c:v>
                </c:pt>
                <c:pt idx="23">
                  <c:v>46058</c:v>
                </c:pt>
                <c:pt idx="24">
                  <c:v>46059</c:v>
                </c:pt>
                <c:pt idx="25">
                  <c:v>46062</c:v>
                </c:pt>
                <c:pt idx="26">
                  <c:v>46063</c:v>
                </c:pt>
                <c:pt idx="27">
                  <c:v>46064</c:v>
                </c:pt>
                <c:pt idx="28">
                  <c:v>46065</c:v>
                </c:pt>
                <c:pt idx="29">
                  <c:v>46066</c:v>
                </c:pt>
                <c:pt idx="30">
                  <c:v>46077</c:v>
                </c:pt>
                <c:pt idx="31">
                  <c:v>46078</c:v>
                </c:pt>
                <c:pt idx="32">
                  <c:v>46079</c:v>
                </c:pt>
                <c:pt idx="33">
                  <c:v>46080</c:v>
                </c:pt>
                <c:pt idx="34">
                  <c:v>46083</c:v>
                </c:pt>
                <c:pt idx="35">
                  <c:v>46084</c:v>
                </c:pt>
                <c:pt idx="36">
                  <c:v>46085</c:v>
                </c:pt>
                <c:pt idx="37">
                  <c:v>46086</c:v>
                </c:pt>
                <c:pt idx="38">
                  <c:v>46087</c:v>
                </c:pt>
                <c:pt idx="39">
                  <c:v>46090</c:v>
                </c:pt>
                <c:pt idx="40">
                  <c:v>46091</c:v>
                </c:pt>
                <c:pt idx="41">
                  <c:v>46092</c:v>
                </c:pt>
                <c:pt idx="42">
                  <c:v>46093</c:v>
                </c:pt>
                <c:pt idx="43">
                  <c:v>46094</c:v>
                </c:pt>
                <c:pt idx="44">
                  <c:v>46097</c:v>
                </c:pt>
                <c:pt idx="45">
                  <c:v>46098</c:v>
                </c:pt>
                <c:pt idx="46">
                  <c:v>46099</c:v>
                </c:pt>
                <c:pt idx="47">
                  <c:v>46100</c:v>
                </c:pt>
                <c:pt idx="48">
                  <c:v>46101</c:v>
                </c:pt>
                <c:pt idx="49">
                  <c:v>46104</c:v>
                </c:pt>
                <c:pt idx="50">
                  <c:v>46105</c:v>
                </c:pt>
                <c:pt idx="51">
                  <c:v>46106</c:v>
                </c:pt>
                <c:pt idx="52">
                  <c:v>46107</c:v>
                </c:pt>
                <c:pt idx="53">
                  <c:v>46108</c:v>
                </c:pt>
                <c:pt idx="54">
                  <c:v>46111</c:v>
                </c:pt>
                <c:pt idx="55">
                  <c:v>46112</c:v>
                </c:pt>
                <c:pt idx="56">
                  <c:v>46113</c:v>
                </c:pt>
                <c:pt idx="57">
                  <c:v>46114</c:v>
                </c:pt>
                <c:pt idx="58">
                  <c:v>46115</c:v>
                </c:pt>
                <c:pt idx="59">
                  <c:v>46119</c:v>
                </c:pt>
                <c:pt idx="60">
                  <c:v>46120</c:v>
                </c:pt>
                <c:pt idx="61">
                  <c:v>46121</c:v>
                </c:pt>
                <c:pt idx="62">
                  <c:v>46122</c:v>
                </c:pt>
                <c:pt idx="63">
                  <c:v>46125</c:v>
                </c:pt>
                <c:pt idx="64">
                  <c:v>46126</c:v>
                </c:pt>
                <c:pt idx="65">
                  <c:v>46127</c:v>
                </c:pt>
                <c:pt idx="66">
                  <c:v>46128</c:v>
                </c:pt>
                <c:pt idx="67">
                  <c:v>46129</c:v>
                </c:pt>
                <c:pt idx="68">
                  <c:v>46132</c:v>
                </c:pt>
                <c:pt idx="69">
                  <c:v>46133</c:v>
                </c:pt>
                <c:pt idx="70">
                  <c:v>46134</c:v>
                </c:pt>
                <c:pt idx="71">
                  <c:v>46135</c:v>
                </c:pt>
                <c:pt idx="72">
                  <c:v>46136</c:v>
                </c:pt>
                <c:pt idx="73">
                  <c:v>46139</c:v>
                </c:pt>
                <c:pt idx="74">
                  <c:v>46140</c:v>
                </c:pt>
                <c:pt idx="75">
                  <c:v>46141</c:v>
                </c:pt>
                <c:pt idx="76">
                  <c:v>46142</c:v>
                </c:pt>
                <c:pt idx="77">
                  <c:v>46148</c:v>
                </c:pt>
                <c:pt idx="78">
                  <c:v>46149</c:v>
                </c:pt>
                <c:pt idx="79">
                  <c:v>46150</c:v>
                </c:pt>
                <c:pt idx="80">
                  <c:v>46153</c:v>
                </c:pt>
                <c:pt idx="81">
                  <c:v>46154</c:v>
                </c:pt>
                <c:pt idx="82">
                  <c:v>46155</c:v>
                </c:pt>
                <c:pt idx="83">
                  <c:v>46156</c:v>
                </c:pt>
                <c:pt idx="84">
                  <c:v>46157</c:v>
                </c:pt>
                <c:pt idx="85">
                  <c:v>46160</c:v>
                </c:pt>
                <c:pt idx="86">
                  <c:v>46161</c:v>
                </c:pt>
                <c:pt idx="87">
                  <c:v>46162</c:v>
                </c:pt>
                <c:pt idx="88">
                  <c:v>46163</c:v>
                </c:pt>
                <c:pt idx="89">
                  <c:v>46164</c:v>
                </c:pt>
                <c:pt idx="90">
                  <c:v>46167</c:v>
                </c:pt>
                <c:pt idx="91">
                  <c:v>46168</c:v>
                </c:pt>
                <c:pt idx="92">
                  <c:v>46169</c:v>
                </c:pt>
                <c:pt idx="93">
                  <c:v>46170</c:v>
                </c:pt>
                <c:pt idx="94">
                  <c:v>46171</c:v>
                </c:pt>
                <c:pt idx="95">
                  <c:v>46174</c:v>
                </c:pt>
                <c:pt idx="96">
                  <c:v>46175</c:v>
                </c:pt>
                <c:pt idx="97">
                  <c:v>46176</c:v>
                </c:pt>
                <c:pt idx="98">
                  <c:v>46177</c:v>
                </c:pt>
                <c:pt idx="99">
                  <c:v>46178</c:v>
                </c:pt>
                <c:pt idx="100">
                  <c:v>46181</c:v>
                </c:pt>
                <c:pt idx="101">
                  <c:v>46182</c:v>
                </c:pt>
                <c:pt idx="102">
                  <c:v>46183</c:v>
                </c:pt>
                <c:pt idx="103">
                  <c:v>46184</c:v>
                </c:pt>
                <c:pt idx="104">
                  <c:v>46185</c:v>
                </c:pt>
                <c:pt idx="105">
                  <c:v>46188</c:v>
                </c:pt>
                <c:pt idx="106">
                  <c:v>46189</c:v>
                </c:pt>
                <c:pt idx="107">
                  <c:v>46190</c:v>
                </c:pt>
                <c:pt idx="108">
                  <c:v>46191</c:v>
                </c:pt>
                <c:pt idx="109">
                  <c:v>46195</c:v>
                </c:pt>
                <c:pt idx="110">
                  <c:v>46196</c:v>
                </c:pt>
                <c:pt idx="111">
                  <c:v>46197</c:v>
                </c:pt>
                <c:pt idx="112">
                  <c:v>46198</c:v>
                </c:pt>
                <c:pt idx="113">
                  <c:v>46199</c:v>
                </c:pt>
                <c:pt idx="114">
                  <c:v>46202</c:v>
                </c:pt>
                <c:pt idx="115">
                  <c:v>46203</c:v>
                </c:pt>
                <c:pt idx="116">
                  <c:v>46204</c:v>
                </c:pt>
                <c:pt idx="117">
                  <c:v>46205</c:v>
                </c:pt>
                <c:pt idx="118">
                  <c:v>46206</c:v>
                </c:pt>
                <c:pt idx="119">
                  <c:v>46209</c:v>
                </c:pt>
                <c:pt idx="120">
                  <c:v>46210</c:v>
                </c:pt>
              </c:numCache>
            </c:numRef>
          </c:cat>
          <c:val>
            <c:numRef>
              <c:f>'基准涨跌幅%'!$C$8:$C$128</c:f>
              <c:numCache>
                <c:formatCode>0.00%</c:formatCode>
                <c:ptCount val="121"/>
                <c:pt idx="0">
                  <c:v>0</c:v>
                </c:pt>
                <c:pt idx="1">
                  <c:v>9.4856661045532586E-3</c:v>
                </c:pt>
                <c:pt idx="2">
                  <c:v>6.32377740303669E-4</c:v>
                </c:pt>
                <c:pt idx="3">
                  <c:v>1.2647554806070938E-2</c:v>
                </c:pt>
                <c:pt idx="4">
                  <c:v>8.9586846543001641E-2</c:v>
                </c:pt>
                <c:pt idx="5">
                  <c:v>0.15303541315345703</c:v>
                </c:pt>
                <c:pt idx="6">
                  <c:v>0.22280775716694778</c:v>
                </c:pt>
                <c:pt idx="7">
                  <c:v>0.24894603709949426</c:v>
                </c:pt>
                <c:pt idx="8">
                  <c:v>0.19940978077571669</c:v>
                </c:pt>
                <c:pt idx="9">
                  <c:v>0.11720067453625638</c:v>
                </c:pt>
                <c:pt idx="10">
                  <c:v>7.9890387858347456E-2</c:v>
                </c:pt>
                <c:pt idx="11">
                  <c:v>7.5252951096121512E-2</c:v>
                </c:pt>
                <c:pt idx="12">
                  <c:v>9.4856661045531254E-2</c:v>
                </c:pt>
                <c:pt idx="13">
                  <c:v>0.10181281618887028</c:v>
                </c:pt>
                <c:pt idx="14">
                  <c:v>0.13216694772344018</c:v>
                </c:pt>
                <c:pt idx="15">
                  <c:v>0.12647554806070826</c:v>
                </c:pt>
                <c:pt idx="16">
                  <c:v>0.11825463743676212</c:v>
                </c:pt>
                <c:pt idx="17">
                  <c:v>6.9561551433389601E-2</c:v>
                </c:pt>
                <c:pt idx="18">
                  <c:v>9.8018549747048933E-2</c:v>
                </c:pt>
                <c:pt idx="19">
                  <c:v>6.6188870151770773E-2</c:v>
                </c:pt>
                <c:pt idx="20">
                  <c:v>3.3726812816188945E-2</c:v>
                </c:pt>
                <c:pt idx="21">
                  <c:v>6.0286677908937492E-2</c:v>
                </c:pt>
                <c:pt idx="22">
                  <c:v>6.155143338954483E-2</c:v>
                </c:pt>
                <c:pt idx="23">
                  <c:v>4.5531197301855064E-2</c:v>
                </c:pt>
                <c:pt idx="24">
                  <c:v>3.2883642495784127E-2</c:v>
                </c:pt>
                <c:pt idx="25">
                  <c:v>4.5320404721753915E-2</c:v>
                </c:pt>
                <c:pt idx="26">
                  <c:v>5.0590219224283528E-2</c:v>
                </c:pt>
                <c:pt idx="27">
                  <c:v>4.6585160202360809E-2</c:v>
                </c:pt>
                <c:pt idx="28">
                  <c:v>4.0261382799325451E-2</c:v>
                </c:pt>
                <c:pt idx="29">
                  <c:v>3.4359190556492392E-2</c:v>
                </c:pt>
                <c:pt idx="30">
                  <c:v>2.5295109612141653E-2</c:v>
                </c:pt>
                <c:pt idx="31">
                  <c:v>3.752107925801007E-2</c:v>
                </c:pt>
                <c:pt idx="32">
                  <c:v>1.3912310286678053E-2</c:v>
                </c:pt>
                <c:pt idx="33">
                  <c:v>2.4241146711635908E-2</c:v>
                </c:pt>
                <c:pt idx="34">
                  <c:v>-9.6964586846542966E-3</c:v>
                </c:pt>
                <c:pt idx="35">
                  <c:v>-5.6070826306913957E-2</c:v>
                </c:pt>
                <c:pt idx="36">
                  <c:v>-7.4620573355817843E-2</c:v>
                </c:pt>
                <c:pt idx="37">
                  <c:v>-6.365935919055643E-2</c:v>
                </c:pt>
                <c:pt idx="38">
                  <c:v>-4.9536256323777339E-2</c:v>
                </c:pt>
                <c:pt idx="39">
                  <c:v>-6.1340640809443459E-2</c:v>
                </c:pt>
                <c:pt idx="40">
                  <c:v>-4.637436762225966E-2</c:v>
                </c:pt>
                <c:pt idx="41">
                  <c:v>-5.3752107925800985E-2</c:v>
                </c:pt>
                <c:pt idx="42">
                  <c:v>-5.9021922428330487E-2</c:v>
                </c:pt>
                <c:pt idx="43">
                  <c:v>-6.8086003372681225E-2</c:v>
                </c:pt>
                <c:pt idx="44">
                  <c:v>-5.9443507588532896E-2</c:v>
                </c:pt>
                <c:pt idx="45">
                  <c:v>-6.8086003372681225E-2</c:v>
                </c:pt>
                <c:pt idx="46">
                  <c:v>-5.8389544688026929E-2</c:v>
                </c:pt>
                <c:pt idx="47">
                  <c:v>-8.410623946037088E-2</c:v>
                </c:pt>
                <c:pt idx="48">
                  <c:v>-0.11150927487352447</c:v>
                </c:pt>
                <c:pt idx="49">
                  <c:v>-0.19034569983136596</c:v>
                </c:pt>
                <c:pt idx="50">
                  <c:v>-0.17053119730185495</c:v>
                </c:pt>
                <c:pt idx="51">
                  <c:v>-0.15725126475548068</c:v>
                </c:pt>
                <c:pt idx="52">
                  <c:v>-0.17748735244519387</c:v>
                </c:pt>
                <c:pt idx="53">
                  <c:v>-0.1561973018549746</c:v>
                </c:pt>
                <c:pt idx="54">
                  <c:v>-0.15071669477234395</c:v>
                </c:pt>
                <c:pt idx="55">
                  <c:v>-0.15999156829679584</c:v>
                </c:pt>
                <c:pt idx="56">
                  <c:v>-0.13322091062394603</c:v>
                </c:pt>
                <c:pt idx="57">
                  <c:v>-0.1452360876897133</c:v>
                </c:pt>
                <c:pt idx="58">
                  <c:v>-0.17559021922428331</c:v>
                </c:pt>
                <c:pt idx="59">
                  <c:v>-0.17263912310286678</c:v>
                </c:pt>
                <c:pt idx="60">
                  <c:v>-0.13132377740303536</c:v>
                </c:pt>
                <c:pt idx="61">
                  <c:v>-0.16083473861720055</c:v>
                </c:pt>
                <c:pt idx="62">
                  <c:v>-0.15155986509274866</c:v>
                </c:pt>
                <c:pt idx="63">
                  <c:v>-0.16020236087689699</c:v>
                </c:pt>
                <c:pt idx="64">
                  <c:v>-0.14881956155143328</c:v>
                </c:pt>
                <c:pt idx="65">
                  <c:v>-0.15198145025295107</c:v>
                </c:pt>
                <c:pt idx="66">
                  <c:v>-0.14924114671163569</c:v>
                </c:pt>
                <c:pt idx="67">
                  <c:v>-0.15956998313659365</c:v>
                </c:pt>
                <c:pt idx="68">
                  <c:v>-0.14924114671163569</c:v>
                </c:pt>
                <c:pt idx="69">
                  <c:v>-0.16252107925801018</c:v>
                </c:pt>
                <c:pt idx="70">
                  <c:v>-0.16167790893760525</c:v>
                </c:pt>
                <c:pt idx="71">
                  <c:v>-0.1760118043844856</c:v>
                </c:pt>
                <c:pt idx="72">
                  <c:v>-0.18191399662731866</c:v>
                </c:pt>
                <c:pt idx="73">
                  <c:v>-0.13111298482293421</c:v>
                </c:pt>
                <c:pt idx="74">
                  <c:v>-0.1509274873524451</c:v>
                </c:pt>
                <c:pt idx="75">
                  <c:v>-0.1505059021922428</c:v>
                </c:pt>
                <c:pt idx="76">
                  <c:v>-0.15809443507588539</c:v>
                </c:pt>
                <c:pt idx="77">
                  <c:v>-0.14734401349072501</c:v>
                </c:pt>
                <c:pt idx="78">
                  <c:v>-0.12984822934232709</c:v>
                </c:pt>
                <c:pt idx="79">
                  <c:v>-9.1905564924114613E-2</c:v>
                </c:pt>
                <c:pt idx="80">
                  <c:v>-5.3541315345699836E-2</c:v>
                </c:pt>
                <c:pt idx="81">
                  <c:v>-0.10223440134907236</c:v>
                </c:pt>
                <c:pt idx="82">
                  <c:v>-0.11087689713322091</c:v>
                </c:pt>
                <c:pt idx="83">
                  <c:v>-0.13891231028667783</c:v>
                </c:pt>
                <c:pt idx="84">
                  <c:v>-0.14102023608768965</c:v>
                </c:pt>
                <c:pt idx="85">
                  <c:v>-0.15682967959527816</c:v>
                </c:pt>
                <c:pt idx="86">
                  <c:v>-0.15008431703204039</c:v>
                </c:pt>
                <c:pt idx="87">
                  <c:v>-0.16083473861720055</c:v>
                </c:pt>
                <c:pt idx="88">
                  <c:v>-0.1800168634064081</c:v>
                </c:pt>
                <c:pt idx="89">
                  <c:v>-0.21100337268128155</c:v>
                </c:pt>
                <c:pt idx="90">
                  <c:v>-0.19350758853288363</c:v>
                </c:pt>
                <c:pt idx="91">
                  <c:v>-0.20383642495784138</c:v>
                </c:pt>
                <c:pt idx="92">
                  <c:v>-0.22575885328836431</c:v>
                </c:pt>
                <c:pt idx="93">
                  <c:v>-0.220910623946037</c:v>
                </c:pt>
                <c:pt idx="94">
                  <c:v>-0.2244940978077572</c:v>
                </c:pt>
                <c:pt idx="95">
                  <c:v>-0.23271500843170323</c:v>
                </c:pt>
                <c:pt idx="96">
                  <c:v>-0.23903878583473859</c:v>
                </c:pt>
                <c:pt idx="97">
                  <c:v>-0.25358347386172009</c:v>
                </c:pt>
                <c:pt idx="98">
                  <c:v>-0.27044688026981445</c:v>
                </c:pt>
                <c:pt idx="99">
                  <c:v>-0.26391231028667783</c:v>
                </c:pt>
                <c:pt idx="100">
                  <c:v>-0.29173693086003372</c:v>
                </c:pt>
                <c:pt idx="101">
                  <c:v>-0.28077571669477241</c:v>
                </c:pt>
                <c:pt idx="102">
                  <c:v>-0.28878583473861708</c:v>
                </c:pt>
                <c:pt idx="103">
                  <c:v>-0.30691399662731866</c:v>
                </c:pt>
                <c:pt idx="104">
                  <c:v>-0.27887858347386163</c:v>
                </c:pt>
                <c:pt idx="105">
                  <c:v>-0.27487352445193924</c:v>
                </c:pt>
                <c:pt idx="106">
                  <c:v>-0.28351602023608757</c:v>
                </c:pt>
                <c:pt idx="107">
                  <c:v>-0.27951096121416519</c:v>
                </c:pt>
                <c:pt idx="108">
                  <c:v>-0.251264755480607</c:v>
                </c:pt>
                <c:pt idx="109">
                  <c:v>-0.22892074198988199</c:v>
                </c:pt>
                <c:pt idx="110">
                  <c:v>-0.24114671163575041</c:v>
                </c:pt>
                <c:pt idx="111">
                  <c:v>-0.24915682967959529</c:v>
                </c:pt>
                <c:pt idx="112">
                  <c:v>-0.23461214165261379</c:v>
                </c:pt>
                <c:pt idx="113">
                  <c:v>-0.26939291736930859</c:v>
                </c:pt>
                <c:pt idx="114">
                  <c:v>-0.24325463743676223</c:v>
                </c:pt>
                <c:pt idx="115">
                  <c:v>-0.2609612141652613</c:v>
                </c:pt>
                <c:pt idx="116">
                  <c:v>-0.22322934232714997</c:v>
                </c:pt>
                <c:pt idx="117">
                  <c:v>-0.24409780775716694</c:v>
                </c:pt>
                <c:pt idx="118">
                  <c:v>-0.22786677908937591</c:v>
                </c:pt>
                <c:pt idx="119">
                  <c:v>-0.23735244519392917</c:v>
                </c:pt>
                <c:pt idx="120">
                  <c:v>-0.27002529510961204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165-E64B-AD7B-F171BEFC847F}"/>
            </c:ext>
          </c:extLst>
        </c:ser>
        <c:ser>
          <c:idx val="2"/>
          <c:order val="2"/>
          <c:tx>
            <c:strRef>
              <c:f>'基准涨跌幅%'!$D$7</c:f>
              <c:strCache>
                <c:ptCount val="1"/>
                <c:pt idx="0">
                  <c:v>华大智造
688114.SH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'基准涨跌幅%'!$A$8:$A$128</c:f>
              <c:numCache>
                <c:formatCode>yyyy\-mm\-dd</c:formatCode>
                <c:ptCount val="121"/>
                <c:pt idx="0">
                  <c:v>46027</c:v>
                </c:pt>
                <c:pt idx="1">
                  <c:v>46028</c:v>
                </c:pt>
                <c:pt idx="2">
                  <c:v>46029</c:v>
                </c:pt>
                <c:pt idx="3">
                  <c:v>46030</c:v>
                </c:pt>
                <c:pt idx="4">
                  <c:v>46031</c:v>
                </c:pt>
                <c:pt idx="5">
                  <c:v>46034</c:v>
                </c:pt>
                <c:pt idx="6">
                  <c:v>46035</c:v>
                </c:pt>
                <c:pt idx="7">
                  <c:v>46036</c:v>
                </c:pt>
                <c:pt idx="8">
                  <c:v>46037</c:v>
                </c:pt>
                <c:pt idx="9">
                  <c:v>46038</c:v>
                </c:pt>
                <c:pt idx="10">
                  <c:v>46041</c:v>
                </c:pt>
                <c:pt idx="11">
                  <c:v>46042</c:v>
                </c:pt>
                <c:pt idx="12">
                  <c:v>46043</c:v>
                </c:pt>
                <c:pt idx="13">
                  <c:v>46044</c:v>
                </c:pt>
                <c:pt idx="14">
                  <c:v>46045</c:v>
                </c:pt>
                <c:pt idx="15">
                  <c:v>46048</c:v>
                </c:pt>
                <c:pt idx="16">
                  <c:v>46049</c:v>
                </c:pt>
                <c:pt idx="17">
                  <c:v>46050</c:v>
                </c:pt>
                <c:pt idx="18">
                  <c:v>46051</c:v>
                </c:pt>
                <c:pt idx="19">
                  <c:v>46052</c:v>
                </c:pt>
                <c:pt idx="20">
                  <c:v>46055</c:v>
                </c:pt>
                <c:pt idx="21">
                  <c:v>46056</c:v>
                </c:pt>
                <c:pt idx="22">
                  <c:v>46057</c:v>
                </c:pt>
                <c:pt idx="23">
                  <c:v>46058</c:v>
                </c:pt>
                <c:pt idx="24">
                  <c:v>46059</c:v>
                </c:pt>
                <c:pt idx="25">
                  <c:v>46062</c:v>
                </c:pt>
                <c:pt idx="26">
                  <c:v>46063</c:v>
                </c:pt>
                <c:pt idx="27">
                  <c:v>46064</c:v>
                </c:pt>
                <c:pt idx="28">
                  <c:v>46065</c:v>
                </c:pt>
                <c:pt idx="29">
                  <c:v>46066</c:v>
                </c:pt>
                <c:pt idx="30">
                  <c:v>46077</c:v>
                </c:pt>
                <c:pt idx="31">
                  <c:v>46078</c:v>
                </c:pt>
                <c:pt idx="32">
                  <c:v>46079</c:v>
                </c:pt>
                <c:pt idx="33">
                  <c:v>46080</c:v>
                </c:pt>
                <c:pt idx="34">
                  <c:v>46083</c:v>
                </c:pt>
                <c:pt idx="35">
                  <c:v>46084</c:v>
                </c:pt>
                <c:pt idx="36">
                  <c:v>46085</c:v>
                </c:pt>
                <c:pt idx="37">
                  <c:v>46086</c:v>
                </c:pt>
                <c:pt idx="38">
                  <c:v>46087</c:v>
                </c:pt>
                <c:pt idx="39">
                  <c:v>46090</c:v>
                </c:pt>
                <c:pt idx="40">
                  <c:v>46091</c:v>
                </c:pt>
                <c:pt idx="41">
                  <c:v>46092</c:v>
                </c:pt>
                <c:pt idx="42">
                  <c:v>46093</c:v>
                </c:pt>
                <c:pt idx="43">
                  <c:v>46094</c:v>
                </c:pt>
                <c:pt idx="44">
                  <c:v>46097</c:v>
                </c:pt>
                <c:pt idx="45">
                  <c:v>46098</c:v>
                </c:pt>
                <c:pt idx="46">
                  <c:v>46099</c:v>
                </c:pt>
                <c:pt idx="47">
                  <c:v>46100</c:v>
                </c:pt>
                <c:pt idx="48">
                  <c:v>46101</c:v>
                </c:pt>
                <c:pt idx="49">
                  <c:v>46104</c:v>
                </c:pt>
                <c:pt idx="50">
                  <c:v>46105</c:v>
                </c:pt>
                <c:pt idx="51">
                  <c:v>46106</c:v>
                </c:pt>
                <c:pt idx="52">
                  <c:v>46107</c:v>
                </c:pt>
                <c:pt idx="53">
                  <c:v>46108</c:v>
                </c:pt>
                <c:pt idx="54">
                  <c:v>46111</c:v>
                </c:pt>
                <c:pt idx="55">
                  <c:v>46112</c:v>
                </c:pt>
                <c:pt idx="56">
                  <c:v>46113</c:v>
                </c:pt>
                <c:pt idx="57">
                  <c:v>46114</c:v>
                </c:pt>
                <c:pt idx="58">
                  <c:v>46115</c:v>
                </c:pt>
                <c:pt idx="59">
                  <c:v>46119</c:v>
                </c:pt>
                <c:pt idx="60">
                  <c:v>46120</c:v>
                </c:pt>
                <c:pt idx="61">
                  <c:v>46121</c:v>
                </c:pt>
                <c:pt idx="62">
                  <c:v>46122</c:v>
                </c:pt>
                <c:pt idx="63">
                  <c:v>46125</c:v>
                </c:pt>
                <c:pt idx="64">
                  <c:v>46126</c:v>
                </c:pt>
                <c:pt idx="65">
                  <c:v>46127</c:v>
                </c:pt>
                <c:pt idx="66">
                  <c:v>46128</c:v>
                </c:pt>
                <c:pt idx="67">
                  <c:v>46129</c:v>
                </c:pt>
                <c:pt idx="68">
                  <c:v>46132</c:v>
                </c:pt>
                <c:pt idx="69">
                  <c:v>46133</c:v>
                </c:pt>
                <c:pt idx="70">
                  <c:v>46134</c:v>
                </c:pt>
                <c:pt idx="71">
                  <c:v>46135</c:v>
                </c:pt>
                <c:pt idx="72">
                  <c:v>46136</c:v>
                </c:pt>
                <c:pt idx="73">
                  <c:v>46139</c:v>
                </c:pt>
                <c:pt idx="74">
                  <c:v>46140</c:v>
                </c:pt>
                <c:pt idx="75">
                  <c:v>46141</c:v>
                </c:pt>
                <c:pt idx="76">
                  <c:v>46142</c:v>
                </c:pt>
                <c:pt idx="77">
                  <c:v>46148</c:v>
                </c:pt>
                <c:pt idx="78">
                  <c:v>46149</c:v>
                </c:pt>
                <c:pt idx="79">
                  <c:v>46150</c:v>
                </c:pt>
                <c:pt idx="80">
                  <c:v>46153</c:v>
                </c:pt>
                <c:pt idx="81">
                  <c:v>46154</c:v>
                </c:pt>
                <c:pt idx="82">
                  <c:v>46155</c:v>
                </c:pt>
                <c:pt idx="83">
                  <c:v>46156</c:v>
                </c:pt>
                <c:pt idx="84">
                  <c:v>46157</c:v>
                </c:pt>
                <c:pt idx="85">
                  <c:v>46160</c:v>
                </c:pt>
                <c:pt idx="86">
                  <c:v>46161</c:v>
                </c:pt>
                <c:pt idx="87">
                  <c:v>46162</c:v>
                </c:pt>
                <c:pt idx="88">
                  <c:v>46163</c:v>
                </c:pt>
                <c:pt idx="89">
                  <c:v>46164</c:v>
                </c:pt>
                <c:pt idx="90">
                  <c:v>46167</c:v>
                </c:pt>
                <c:pt idx="91">
                  <c:v>46168</c:v>
                </c:pt>
                <c:pt idx="92">
                  <c:v>46169</c:v>
                </c:pt>
                <c:pt idx="93">
                  <c:v>46170</c:v>
                </c:pt>
                <c:pt idx="94">
                  <c:v>46171</c:v>
                </c:pt>
                <c:pt idx="95">
                  <c:v>46174</c:v>
                </c:pt>
                <c:pt idx="96">
                  <c:v>46175</c:v>
                </c:pt>
                <c:pt idx="97">
                  <c:v>46176</c:v>
                </c:pt>
                <c:pt idx="98">
                  <c:v>46177</c:v>
                </c:pt>
                <c:pt idx="99">
                  <c:v>46178</c:v>
                </c:pt>
                <c:pt idx="100">
                  <c:v>46181</c:v>
                </c:pt>
                <c:pt idx="101">
                  <c:v>46182</c:v>
                </c:pt>
                <c:pt idx="102">
                  <c:v>46183</c:v>
                </c:pt>
                <c:pt idx="103">
                  <c:v>46184</c:v>
                </c:pt>
                <c:pt idx="104">
                  <c:v>46185</c:v>
                </c:pt>
                <c:pt idx="105">
                  <c:v>46188</c:v>
                </c:pt>
                <c:pt idx="106">
                  <c:v>46189</c:v>
                </c:pt>
                <c:pt idx="107">
                  <c:v>46190</c:v>
                </c:pt>
                <c:pt idx="108">
                  <c:v>46191</c:v>
                </c:pt>
                <c:pt idx="109">
                  <c:v>46195</c:v>
                </c:pt>
                <c:pt idx="110">
                  <c:v>46196</c:v>
                </c:pt>
                <c:pt idx="111">
                  <c:v>46197</c:v>
                </c:pt>
                <c:pt idx="112">
                  <c:v>46198</c:v>
                </c:pt>
                <c:pt idx="113">
                  <c:v>46199</c:v>
                </c:pt>
                <c:pt idx="114">
                  <c:v>46202</c:v>
                </c:pt>
                <c:pt idx="115">
                  <c:v>46203</c:v>
                </c:pt>
                <c:pt idx="116">
                  <c:v>46204</c:v>
                </c:pt>
                <c:pt idx="117">
                  <c:v>46205</c:v>
                </c:pt>
                <c:pt idx="118">
                  <c:v>46206</c:v>
                </c:pt>
                <c:pt idx="119">
                  <c:v>46209</c:v>
                </c:pt>
                <c:pt idx="120">
                  <c:v>46210</c:v>
                </c:pt>
              </c:numCache>
            </c:numRef>
          </c:cat>
          <c:val>
            <c:numRef>
              <c:f>'基准涨跌幅%'!$D$8:$D$128</c:f>
              <c:numCache>
                <c:formatCode>0.00%</c:formatCode>
                <c:ptCount val="121"/>
                <c:pt idx="0">
                  <c:v>0</c:v>
                </c:pt>
                <c:pt idx="1">
                  <c:v>6.9537979639780811E-2</c:v>
                </c:pt>
                <c:pt idx="2">
                  <c:v>6.4996084573218482E-2</c:v>
                </c:pt>
                <c:pt idx="3">
                  <c:v>6.5779169929522263E-2</c:v>
                </c:pt>
                <c:pt idx="4">
                  <c:v>0.17462803445575559</c:v>
                </c:pt>
                <c:pt idx="5">
                  <c:v>0.23382928739232578</c:v>
                </c:pt>
                <c:pt idx="6">
                  <c:v>0.2150352388410337</c:v>
                </c:pt>
                <c:pt idx="7">
                  <c:v>0.17838684416601391</c:v>
                </c:pt>
                <c:pt idx="8">
                  <c:v>0.1277995301487862</c:v>
                </c:pt>
                <c:pt idx="9">
                  <c:v>5.324980422866088E-2</c:v>
                </c:pt>
                <c:pt idx="10">
                  <c:v>3.3359436178543422E-2</c:v>
                </c:pt>
                <c:pt idx="11">
                  <c:v>1.4252153484729968E-2</c:v>
                </c:pt>
                <c:pt idx="12">
                  <c:v>2.6624902114330329E-2</c:v>
                </c:pt>
                <c:pt idx="13">
                  <c:v>4.6515270164447786E-2</c:v>
                </c:pt>
                <c:pt idx="14">
                  <c:v>0.10649960845732198</c:v>
                </c:pt>
                <c:pt idx="15">
                  <c:v>6.6249021143304665E-2</c:v>
                </c:pt>
                <c:pt idx="16">
                  <c:v>5.1370399373531717E-2</c:v>
                </c:pt>
                <c:pt idx="17">
                  <c:v>3.3672670321065024E-2</c:v>
                </c:pt>
                <c:pt idx="18">
                  <c:v>5.5599060297572445E-2</c:v>
                </c:pt>
                <c:pt idx="19">
                  <c:v>2.0046985121378036E-2</c:v>
                </c:pt>
                <c:pt idx="20">
                  <c:v>2.631166797180895E-2</c:v>
                </c:pt>
                <c:pt idx="21">
                  <c:v>3.9154267815191712E-2</c:v>
                </c:pt>
                <c:pt idx="22">
                  <c:v>5.2623335943617677E-2</c:v>
                </c:pt>
                <c:pt idx="23">
                  <c:v>4.4635865309318845E-2</c:v>
                </c:pt>
                <c:pt idx="24">
                  <c:v>5.7165231010180007E-2</c:v>
                </c:pt>
                <c:pt idx="25">
                  <c:v>7.6115896632732882E-2</c:v>
                </c:pt>
                <c:pt idx="26">
                  <c:v>5.9514487079091793E-2</c:v>
                </c:pt>
                <c:pt idx="27">
                  <c:v>5.0430696945966913E-2</c:v>
                </c:pt>
                <c:pt idx="28">
                  <c:v>3.6178543461237167E-2</c:v>
                </c:pt>
                <c:pt idx="29">
                  <c:v>2.2866092404072003E-2</c:v>
                </c:pt>
                <c:pt idx="30">
                  <c:v>2.4588880187940587E-2</c:v>
                </c:pt>
                <c:pt idx="31">
                  <c:v>2.5685199686765747E-2</c:v>
                </c:pt>
                <c:pt idx="32">
                  <c:v>7.0477682067344727E-3</c:v>
                </c:pt>
                <c:pt idx="33">
                  <c:v>-2.3492560689114539E-3</c:v>
                </c:pt>
                <c:pt idx="34">
                  <c:v>-2.5998433829287459E-2</c:v>
                </c:pt>
                <c:pt idx="35">
                  <c:v>-9.1934220830070523E-2</c:v>
                </c:pt>
                <c:pt idx="36">
                  <c:v>-0.12983555207517616</c:v>
                </c:pt>
                <c:pt idx="37">
                  <c:v>-0.12905246671887238</c:v>
                </c:pt>
                <c:pt idx="38">
                  <c:v>-0.11730618637431478</c:v>
                </c:pt>
                <c:pt idx="39">
                  <c:v>-0.1339075959279562</c:v>
                </c:pt>
                <c:pt idx="40">
                  <c:v>-0.12122161315583402</c:v>
                </c:pt>
                <c:pt idx="41">
                  <c:v>-0.12936570086139387</c:v>
                </c:pt>
                <c:pt idx="42">
                  <c:v>-0.14079874706342999</c:v>
                </c:pt>
                <c:pt idx="43">
                  <c:v>-0.1575567736883321</c:v>
                </c:pt>
                <c:pt idx="44">
                  <c:v>-0.1392325763508222</c:v>
                </c:pt>
                <c:pt idx="45">
                  <c:v>-0.15567736883320293</c:v>
                </c:pt>
                <c:pt idx="46">
                  <c:v>-0.16209866875489432</c:v>
                </c:pt>
                <c:pt idx="47">
                  <c:v>-0.17697729052466726</c:v>
                </c:pt>
                <c:pt idx="48">
                  <c:v>-0.19232576350822239</c:v>
                </c:pt>
                <c:pt idx="49">
                  <c:v>-0.2325763508222396</c:v>
                </c:pt>
                <c:pt idx="50">
                  <c:v>-0.20736100234925614</c:v>
                </c:pt>
                <c:pt idx="51">
                  <c:v>-0.21315583398590443</c:v>
                </c:pt>
                <c:pt idx="52">
                  <c:v>-0.22599843382928742</c:v>
                </c:pt>
                <c:pt idx="53">
                  <c:v>-0.2156617071260768</c:v>
                </c:pt>
                <c:pt idx="54">
                  <c:v>-0.22239624119028978</c:v>
                </c:pt>
                <c:pt idx="55">
                  <c:v>-0.22975724353954585</c:v>
                </c:pt>
                <c:pt idx="56">
                  <c:v>-0.20892717306186381</c:v>
                </c:pt>
                <c:pt idx="57">
                  <c:v>-0.21848081440877054</c:v>
                </c:pt>
                <c:pt idx="58">
                  <c:v>-0.24447924823805789</c:v>
                </c:pt>
                <c:pt idx="59">
                  <c:v>-0.25058731401722789</c:v>
                </c:pt>
                <c:pt idx="60">
                  <c:v>-0.18981989036805014</c:v>
                </c:pt>
                <c:pt idx="61">
                  <c:v>-0.22223962411902909</c:v>
                </c:pt>
                <c:pt idx="62">
                  <c:v>-0.20046985121378236</c:v>
                </c:pt>
                <c:pt idx="63">
                  <c:v>-0.2093970242756461</c:v>
                </c:pt>
                <c:pt idx="64">
                  <c:v>-0.20093970242756454</c:v>
                </c:pt>
                <c:pt idx="65">
                  <c:v>-0.20000000000000007</c:v>
                </c:pt>
                <c:pt idx="66">
                  <c:v>-0.19655442443226323</c:v>
                </c:pt>
                <c:pt idx="67">
                  <c:v>-0.22380579483163665</c:v>
                </c:pt>
                <c:pt idx="68">
                  <c:v>-0.23946750195771338</c:v>
                </c:pt>
                <c:pt idx="69">
                  <c:v>-0.25340642129992164</c:v>
                </c:pt>
                <c:pt idx="70">
                  <c:v>-0.24181675802662495</c:v>
                </c:pt>
                <c:pt idx="71">
                  <c:v>-0.23884103367267029</c:v>
                </c:pt>
                <c:pt idx="72">
                  <c:v>-0.24353954581049342</c:v>
                </c:pt>
                <c:pt idx="73">
                  <c:v>-0.16068911511354733</c:v>
                </c:pt>
                <c:pt idx="74">
                  <c:v>-0.17337509788566952</c:v>
                </c:pt>
                <c:pt idx="75">
                  <c:v>-0.17854346123727483</c:v>
                </c:pt>
                <c:pt idx="76">
                  <c:v>-0.20125293657008614</c:v>
                </c:pt>
                <c:pt idx="77">
                  <c:v>-0.20046985121378236</c:v>
                </c:pt>
                <c:pt idx="78">
                  <c:v>-0.17525450274079879</c:v>
                </c:pt>
                <c:pt idx="79">
                  <c:v>-0.1746280344557557</c:v>
                </c:pt>
                <c:pt idx="80">
                  <c:v>-0.15849647611589668</c:v>
                </c:pt>
                <c:pt idx="81">
                  <c:v>-0.18888018794048556</c:v>
                </c:pt>
                <c:pt idx="82">
                  <c:v>-0.19107282693813632</c:v>
                </c:pt>
                <c:pt idx="83">
                  <c:v>-0.20783085356303843</c:v>
                </c:pt>
                <c:pt idx="84">
                  <c:v>-0.17901331245105712</c:v>
                </c:pt>
                <c:pt idx="85">
                  <c:v>-0.17791699295223173</c:v>
                </c:pt>
                <c:pt idx="86">
                  <c:v>-0.16413469068128428</c:v>
                </c:pt>
                <c:pt idx="87">
                  <c:v>-0.1395458104933438</c:v>
                </c:pt>
                <c:pt idx="88">
                  <c:v>-0.16037588097102584</c:v>
                </c:pt>
                <c:pt idx="89">
                  <c:v>-0.1678935003915426</c:v>
                </c:pt>
                <c:pt idx="90">
                  <c:v>-0.14581049334377449</c:v>
                </c:pt>
                <c:pt idx="91">
                  <c:v>-0.1631949882537197</c:v>
                </c:pt>
                <c:pt idx="92">
                  <c:v>-0.17791699295223173</c:v>
                </c:pt>
                <c:pt idx="93">
                  <c:v>-0.18543461237274872</c:v>
                </c:pt>
                <c:pt idx="94">
                  <c:v>-0.2090837901331245</c:v>
                </c:pt>
                <c:pt idx="95">
                  <c:v>-0.23523884103367276</c:v>
                </c:pt>
                <c:pt idx="96">
                  <c:v>-0.2325763508222396</c:v>
                </c:pt>
                <c:pt idx="97">
                  <c:v>-0.24557556773688327</c:v>
                </c:pt>
                <c:pt idx="98">
                  <c:v>-0.25043069694596709</c:v>
                </c:pt>
                <c:pt idx="99">
                  <c:v>-0.22317932654659356</c:v>
                </c:pt>
                <c:pt idx="100">
                  <c:v>-0.26092404072043862</c:v>
                </c:pt>
                <c:pt idx="101">
                  <c:v>-0.26029757243539553</c:v>
                </c:pt>
                <c:pt idx="102">
                  <c:v>-0.27548942834768997</c:v>
                </c:pt>
                <c:pt idx="103">
                  <c:v>-0.28128425998433826</c:v>
                </c:pt>
                <c:pt idx="104">
                  <c:v>-0.18715740015661708</c:v>
                </c:pt>
                <c:pt idx="105">
                  <c:v>-0.22584181675802661</c:v>
                </c:pt>
                <c:pt idx="106">
                  <c:v>-0.23320281910728269</c:v>
                </c:pt>
                <c:pt idx="107">
                  <c:v>-0.23194988253719662</c:v>
                </c:pt>
                <c:pt idx="108">
                  <c:v>-0.21848081440877054</c:v>
                </c:pt>
                <c:pt idx="109">
                  <c:v>-0.20610806577916996</c:v>
                </c:pt>
                <c:pt idx="110">
                  <c:v>-0.21190289741581836</c:v>
                </c:pt>
                <c:pt idx="111">
                  <c:v>-0.22380579483163665</c:v>
                </c:pt>
                <c:pt idx="112">
                  <c:v>-0.20955364134690679</c:v>
                </c:pt>
                <c:pt idx="113">
                  <c:v>-0.2440093970242756</c:v>
                </c:pt>
                <c:pt idx="114">
                  <c:v>-0.20234925606891152</c:v>
                </c:pt>
                <c:pt idx="115">
                  <c:v>-0.20000000000000007</c:v>
                </c:pt>
                <c:pt idx="116">
                  <c:v>-0.18292873923257635</c:v>
                </c:pt>
                <c:pt idx="117">
                  <c:v>-0.18700078308535639</c:v>
                </c:pt>
                <c:pt idx="118">
                  <c:v>-7.6115896632732993E-2</c:v>
                </c:pt>
                <c:pt idx="119">
                  <c:v>-0.11542678151918562</c:v>
                </c:pt>
                <c:pt idx="120">
                  <c:v>-0.15285826155050897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165-E64B-AD7B-F171BEFC847F}"/>
            </c:ext>
          </c:extLst>
        </c:ser>
        <c:ser>
          <c:idx val="3"/>
          <c:order val="3"/>
          <c:tx>
            <c:strRef>
              <c:f>'基准涨跌幅%'!$E$7</c:f>
              <c:strCache>
                <c:ptCount val="1"/>
                <c:pt idx="0">
                  <c:v>金域医疗
603882.SH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'基准涨跌幅%'!$A$8:$A$128</c:f>
              <c:numCache>
                <c:formatCode>yyyy\-mm\-dd</c:formatCode>
                <c:ptCount val="121"/>
                <c:pt idx="0">
                  <c:v>46027</c:v>
                </c:pt>
                <c:pt idx="1">
                  <c:v>46028</c:v>
                </c:pt>
                <c:pt idx="2">
                  <c:v>46029</c:v>
                </c:pt>
                <c:pt idx="3">
                  <c:v>46030</c:v>
                </c:pt>
                <c:pt idx="4">
                  <c:v>46031</c:v>
                </c:pt>
                <c:pt idx="5">
                  <c:v>46034</c:v>
                </c:pt>
                <c:pt idx="6">
                  <c:v>46035</c:v>
                </c:pt>
                <c:pt idx="7">
                  <c:v>46036</c:v>
                </c:pt>
                <c:pt idx="8">
                  <c:v>46037</c:v>
                </c:pt>
                <c:pt idx="9">
                  <c:v>46038</c:v>
                </c:pt>
                <c:pt idx="10">
                  <c:v>46041</c:v>
                </c:pt>
                <c:pt idx="11">
                  <c:v>46042</c:v>
                </c:pt>
                <c:pt idx="12">
                  <c:v>46043</c:v>
                </c:pt>
                <c:pt idx="13">
                  <c:v>46044</c:v>
                </c:pt>
                <c:pt idx="14">
                  <c:v>46045</c:v>
                </c:pt>
                <c:pt idx="15">
                  <c:v>46048</c:v>
                </c:pt>
                <c:pt idx="16">
                  <c:v>46049</c:v>
                </c:pt>
                <c:pt idx="17">
                  <c:v>46050</c:v>
                </c:pt>
                <c:pt idx="18">
                  <c:v>46051</c:v>
                </c:pt>
                <c:pt idx="19">
                  <c:v>46052</c:v>
                </c:pt>
                <c:pt idx="20">
                  <c:v>46055</c:v>
                </c:pt>
                <c:pt idx="21">
                  <c:v>46056</c:v>
                </c:pt>
                <c:pt idx="22">
                  <c:v>46057</c:v>
                </c:pt>
                <c:pt idx="23">
                  <c:v>46058</c:v>
                </c:pt>
                <c:pt idx="24">
                  <c:v>46059</c:v>
                </c:pt>
                <c:pt idx="25">
                  <c:v>46062</c:v>
                </c:pt>
                <c:pt idx="26">
                  <c:v>46063</c:v>
                </c:pt>
                <c:pt idx="27">
                  <c:v>46064</c:v>
                </c:pt>
                <c:pt idx="28">
                  <c:v>46065</c:v>
                </c:pt>
                <c:pt idx="29">
                  <c:v>46066</c:v>
                </c:pt>
                <c:pt idx="30">
                  <c:v>46077</c:v>
                </c:pt>
                <c:pt idx="31">
                  <c:v>46078</c:v>
                </c:pt>
                <c:pt idx="32">
                  <c:v>46079</c:v>
                </c:pt>
                <c:pt idx="33">
                  <c:v>46080</c:v>
                </c:pt>
                <c:pt idx="34">
                  <c:v>46083</c:v>
                </c:pt>
                <c:pt idx="35">
                  <c:v>46084</c:v>
                </c:pt>
                <c:pt idx="36">
                  <c:v>46085</c:v>
                </c:pt>
                <c:pt idx="37">
                  <c:v>46086</c:v>
                </c:pt>
                <c:pt idx="38">
                  <c:v>46087</c:v>
                </c:pt>
                <c:pt idx="39">
                  <c:v>46090</c:v>
                </c:pt>
                <c:pt idx="40">
                  <c:v>46091</c:v>
                </c:pt>
                <c:pt idx="41">
                  <c:v>46092</c:v>
                </c:pt>
                <c:pt idx="42">
                  <c:v>46093</c:v>
                </c:pt>
                <c:pt idx="43">
                  <c:v>46094</c:v>
                </c:pt>
                <c:pt idx="44">
                  <c:v>46097</c:v>
                </c:pt>
                <c:pt idx="45">
                  <c:v>46098</c:v>
                </c:pt>
                <c:pt idx="46">
                  <c:v>46099</c:v>
                </c:pt>
                <c:pt idx="47">
                  <c:v>46100</c:v>
                </c:pt>
                <c:pt idx="48">
                  <c:v>46101</c:v>
                </c:pt>
                <c:pt idx="49">
                  <c:v>46104</c:v>
                </c:pt>
                <c:pt idx="50">
                  <c:v>46105</c:v>
                </c:pt>
                <c:pt idx="51">
                  <c:v>46106</c:v>
                </c:pt>
                <c:pt idx="52">
                  <c:v>46107</c:v>
                </c:pt>
                <c:pt idx="53">
                  <c:v>46108</c:v>
                </c:pt>
                <c:pt idx="54">
                  <c:v>46111</c:v>
                </c:pt>
                <c:pt idx="55">
                  <c:v>46112</c:v>
                </c:pt>
                <c:pt idx="56">
                  <c:v>46113</c:v>
                </c:pt>
                <c:pt idx="57">
                  <c:v>46114</c:v>
                </c:pt>
                <c:pt idx="58">
                  <c:v>46115</c:v>
                </c:pt>
                <c:pt idx="59">
                  <c:v>46119</c:v>
                </c:pt>
                <c:pt idx="60">
                  <c:v>46120</c:v>
                </c:pt>
                <c:pt idx="61">
                  <c:v>46121</c:v>
                </c:pt>
                <c:pt idx="62">
                  <c:v>46122</c:v>
                </c:pt>
                <c:pt idx="63">
                  <c:v>46125</c:v>
                </c:pt>
                <c:pt idx="64">
                  <c:v>46126</c:v>
                </c:pt>
                <c:pt idx="65">
                  <c:v>46127</c:v>
                </c:pt>
                <c:pt idx="66">
                  <c:v>46128</c:v>
                </c:pt>
                <c:pt idx="67">
                  <c:v>46129</c:v>
                </c:pt>
                <c:pt idx="68">
                  <c:v>46132</c:v>
                </c:pt>
                <c:pt idx="69">
                  <c:v>46133</c:v>
                </c:pt>
                <c:pt idx="70">
                  <c:v>46134</c:v>
                </c:pt>
                <c:pt idx="71">
                  <c:v>46135</c:v>
                </c:pt>
                <c:pt idx="72">
                  <c:v>46136</c:v>
                </c:pt>
                <c:pt idx="73">
                  <c:v>46139</c:v>
                </c:pt>
                <c:pt idx="74">
                  <c:v>46140</c:v>
                </c:pt>
                <c:pt idx="75">
                  <c:v>46141</c:v>
                </c:pt>
                <c:pt idx="76">
                  <c:v>46142</c:v>
                </c:pt>
                <c:pt idx="77">
                  <c:v>46148</c:v>
                </c:pt>
                <c:pt idx="78">
                  <c:v>46149</c:v>
                </c:pt>
                <c:pt idx="79">
                  <c:v>46150</c:v>
                </c:pt>
                <c:pt idx="80">
                  <c:v>46153</c:v>
                </c:pt>
                <c:pt idx="81">
                  <c:v>46154</c:v>
                </c:pt>
                <c:pt idx="82">
                  <c:v>46155</c:v>
                </c:pt>
                <c:pt idx="83">
                  <c:v>46156</c:v>
                </c:pt>
                <c:pt idx="84">
                  <c:v>46157</c:v>
                </c:pt>
                <c:pt idx="85">
                  <c:v>46160</c:v>
                </c:pt>
                <c:pt idx="86">
                  <c:v>46161</c:v>
                </c:pt>
                <c:pt idx="87">
                  <c:v>46162</c:v>
                </c:pt>
                <c:pt idx="88">
                  <c:v>46163</c:v>
                </c:pt>
                <c:pt idx="89">
                  <c:v>46164</c:v>
                </c:pt>
                <c:pt idx="90">
                  <c:v>46167</c:v>
                </c:pt>
                <c:pt idx="91">
                  <c:v>46168</c:v>
                </c:pt>
                <c:pt idx="92">
                  <c:v>46169</c:v>
                </c:pt>
                <c:pt idx="93">
                  <c:v>46170</c:v>
                </c:pt>
                <c:pt idx="94">
                  <c:v>46171</c:v>
                </c:pt>
                <c:pt idx="95">
                  <c:v>46174</c:v>
                </c:pt>
                <c:pt idx="96">
                  <c:v>46175</c:v>
                </c:pt>
                <c:pt idx="97">
                  <c:v>46176</c:v>
                </c:pt>
                <c:pt idx="98">
                  <c:v>46177</c:v>
                </c:pt>
                <c:pt idx="99">
                  <c:v>46178</c:v>
                </c:pt>
                <c:pt idx="100">
                  <c:v>46181</c:v>
                </c:pt>
                <c:pt idx="101">
                  <c:v>46182</c:v>
                </c:pt>
                <c:pt idx="102">
                  <c:v>46183</c:v>
                </c:pt>
                <c:pt idx="103">
                  <c:v>46184</c:v>
                </c:pt>
                <c:pt idx="104">
                  <c:v>46185</c:v>
                </c:pt>
                <c:pt idx="105">
                  <c:v>46188</c:v>
                </c:pt>
                <c:pt idx="106">
                  <c:v>46189</c:v>
                </c:pt>
                <c:pt idx="107">
                  <c:v>46190</c:v>
                </c:pt>
                <c:pt idx="108">
                  <c:v>46191</c:v>
                </c:pt>
                <c:pt idx="109">
                  <c:v>46195</c:v>
                </c:pt>
                <c:pt idx="110">
                  <c:v>46196</c:v>
                </c:pt>
                <c:pt idx="111">
                  <c:v>46197</c:v>
                </c:pt>
                <c:pt idx="112">
                  <c:v>46198</c:v>
                </c:pt>
                <c:pt idx="113">
                  <c:v>46199</c:v>
                </c:pt>
                <c:pt idx="114">
                  <c:v>46202</c:v>
                </c:pt>
                <c:pt idx="115">
                  <c:v>46203</c:v>
                </c:pt>
                <c:pt idx="116">
                  <c:v>46204</c:v>
                </c:pt>
                <c:pt idx="117">
                  <c:v>46205</c:v>
                </c:pt>
                <c:pt idx="118">
                  <c:v>46206</c:v>
                </c:pt>
                <c:pt idx="119">
                  <c:v>46209</c:v>
                </c:pt>
                <c:pt idx="120">
                  <c:v>46210</c:v>
                </c:pt>
              </c:numCache>
            </c:numRef>
          </c:cat>
          <c:val>
            <c:numRef>
              <c:f>'基准涨跌幅%'!$E$8:$E$128</c:f>
              <c:numCache>
                <c:formatCode>0.00%</c:formatCode>
                <c:ptCount val="121"/>
                <c:pt idx="0">
                  <c:v>0</c:v>
                </c:pt>
                <c:pt idx="1">
                  <c:v>2.9521547336274212E-2</c:v>
                </c:pt>
                <c:pt idx="2">
                  <c:v>4.0719375636240063E-3</c:v>
                </c:pt>
                <c:pt idx="3">
                  <c:v>3.8344078724126263E-2</c:v>
                </c:pt>
                <c:pt idx="4">
                  <c:v>0.14217848659653876</c:v>
                </c:pt>
                <c:pt idx="5">
                  <c:v>0.25653206650831373</c:v>
                </c:pt>
                <c:pt idx="6">
                  <c:v>0.24465558194774362</c:v>
                </c:pt>
                <c:pt idx="7">
                  <c:v>0.25517475398710565</c:v>
                </c:pt>
                <c:pt idx="8">
                  <c:v>0.22056328469630126</c:v>
                </c:pt>
                <c:pt idx="9">
                  <c:v>0.10620970478452674</c:v>
                </c:pt>
                <c:pt idx="10">
                  <c:v>0.10485239226331866</c:v>
                </c:pt>
                <c:pt idx="11">
                  <c:v>9.9423142178486579E-2</c:v>
                </c:pt>
                <c:pt idx="12">
                  <c:v>0.13233797081778076</c:v>
                </c:pt>
                <c:pt idx="13">
                  <c:v>0.1153715643026807</c:v>
                </c:pt>
                <c:pt idx="14">
                  <c:v>0.13776722090261284</c:v>
                </c:pt>
                <c:pt idx="15">
                  <c:v>0.1170682049541909</c:v>
                </c:pt>
                <c:pt idx="16">
                  <c:v>0.11944350186630492</c:v>
                </c:pt>
                <c:pt idx="17">
                  <c:v>7.8724126230064417E-2</c:v>
                </c:pt>
                <c:pt idx="18">
                  <c:v>0.11605022056328473</c:v>
                </c:pt>
                <c:pt idx="19">
                  <c:v>8.4832032575500538E-2</c:v>
                </c:pt>
                <c:pt idx="20">
                  <c:v>4.8863250763488297E-2</c:v>
                </c:pt>
                <c:pt idx="21">
                  <c:v>8.0760095011876532E-2</c:v>
                </c:pt>
                <c:pt idx="22">
                  <c:v>9.1279267051238566E-2</c:v>
                </c:pt>
                <c:pt idx="23">
                  <c:v>6.2097047845266484E-2</c:v>
                </c:pt>
                <c:pt idx="24">
                  <c:v>5.4971157108924418E-2</c:v>
                </c:pt>
                <c:pt idx="25">
                  <c:v>8.992195453003049E-2</c:v>
                </c:pt>
                <c:pt idx="26">
                  <c:v>8.992195453003049E-2</c:v>
                </c:pt>
                <c:pt idx="27">
                  <c:v>6.7526297930098567E-2</c:v>
                </c:pt>
                <c:pt idx="28">
                  <c:v>6.9901594842212589E-2</c:v>
                </c:pt>
                <c:pt idx="29">
                  <c:v>5.8025110281642478E-2</c:v>
                </c:pt>
                <c:pt idx="30">
                  <c:v>3.4950797421106294E-2</c:v>
                </c:pt>
                <c:pt idx="31">
                  <c:v>4.6827281981676405E-2</c:v>
                </c:pt>
                <c:pt idx="32">
                  <c:v>4.7166610111978313E-2</c:v>
                </c:pt>
                <c:pt idx="33">
                  <c:v>5.6667797760434402E-2</c:v>
                </c:pt>
                <c:pt idx="34">
                  <c:v>2.5788937902952114E-2</c:v>
                </c:pt>
                <c:pt idx="35">
                  <c:v>-2.6128266033254133E-2</c:v>
                </c:pt>
                <c:pt idx="36">
                  <c:v>-5.4631828978622288E-2</c:v>
                </c:pt>
                <c:pt idx="37">
                  <c:v>-4.3094672548354196E-2</c:v>
                </c:pt>
                <c:pt idx="38">
                  <c:v>-3.1218187987784085E-2</c:v>
                </c:pt>
                <c:pt idx="39">
                  <c:v>-4.1737360027146231E-2</c:v>
                </c:pt>
                <c:pt idx="40">
                  <c:v>-2.6128266033254133E-2</c:v>
                </c:pt>
                <c:pt idx="41">
                  <c:v>-2.9521547336274101E-2</c:v>
                </c:pt>
                <c:pt idx="42">
                  <c:v>-4.0040719375636247E-2</c:v>
                </c:pt>
                <c:pt idx="43">
                  <c:v>-5.2935188327112304E-2</c:v>
                </c:pt>
                <c:pt idx="44">
                  <c:v>-4.8863250763488186E-2</c:v>
                </c:pt>
                <c:pt idx="45">
                  <c:v>-6.006107906345437E-2</c:v>
                </c:pt>
                <c:pt idx="46">
                  <c:v>-5.4292500848320269E-2</c:v>
                </c:pt>
                <c:pt idx="47">
                  <c:v>-7.4991516796742319E-2</c:v>
                </c:pt>
                <c:pt idx="48">
                  <c:v>-9.0261282660332509E-2</c:v>
                </c:pt>
                <c:pt idx="49">
                  <c:v>-0.15235833050559888</c:v>
                </c:pt>
                <c:pt idx="50">
                  <c:v>-0.12860536138445877</c:v>
                </c:pt>
                <c:pt idx="51">
                  <c:v>-0.12453342382083465</c:v>
                </c:pt>
                <c:pt idx="52">
                  <c:v>-0.14116050220563281</c:v>
                </c:pt>
                <c:pt idx="53">
                  <c:v>-0.12656939260264677</c:v>
                </c:pt>
                <c:pt idx="54">
                  <c:v>-0.11605022056328462</c:v>
                </c:pt>
                <c:pt idx="55">
                  <c:v>-0.10892432982694256</c:v>
                </c:pt>
                <c:pt idx="56">
                  <c:v>-8.9243298269426452E-2</c:v>
                </c:pt>
                <c:pt idx="57">
                  <c:v>-9.297590770274855E-2</c:v>
                </c:pt>
                <c:pt idx="58">
                  <c:v>-0.11672887682388866</c:v>
                </c:pt>
                <c:pt idx="59">
                  <c:v>-0.11842551747539865</c:v>
                </c:pt>
                <c:pt idx="60">
                  <c:v>-8.1099423142178551E-2</c:v>
                </c:pt>
                <c:pt idx="61">
                  <c:v>-0.11028164234815063</c:v>
                </c:pt>
                <c:pt idx="62">
                  <c:v>-9.7047845266372557E-2</c:v>
                </c:pt>
                <c:pt idx="63">
                  <c:v>-0.10519172039362057</c:v>
                </c:pt>
                <c:pt idx="64">
                  <c:v>-7.8045469969460379E-2</c:v>
                </c:pt>
                <c:pt idx="65">
                  <c:v>-7.6348829317950506E-2</c:v>
                </c:pt>
                <c:pt idx="66">
                  <c:v>-6.8544282321004402E-2</c:v>
                </c:pt>
                <c:pt idx="67">
                  <c:v>-7.6348829317950506E-2</c:v>
                </c:pt>
                <c:pt idx="68">
                  <c:v>-6.1418391584662335E-2</c:v>
                </c:pt>
                <c:pt idx="69">
                  <c:v>-5.4971157108924196E-2</c:v>
                </c:pt>
                <c:pt idx="70">
                  <c:v>-2.2395656599932146E-2</c:v>
                </c:pt>
                <c:pt idx="71">
                  <c:v>-2.5788937902952114E-2</c:v>
                </c:pt>
                <c:pt idx="72">
                  <c:v>-4.0380047505938155E-2</c:v>
                </c:pt>
                <c:pt idx="73">
                  <c:v>-4.3094672548354196E-2</c:v>
                </c:pt>
                <c:pt idx="74">
                  <c:v>-7.3294876145232446E-2</c:v>
                </c:pt>
                <c:pt idx="75">
                  <c:v>-6.6168985408890379E-2</c:v>
                </c:pt>
                <c:pt idx="76">
                  <c:v>-7.3634204275534354E-2</c:v>
                </c:pt>
                <c:pt idx="77">
                  <c:v>-6.7186969799796437E-2</c:v>
                </c:pt>
                <c:pt idx="78">
                  <c:v>-5.7346454021038218E-2</c:v>
                </c:pt>
                <c:pt idx="79">
                  <c:v>-4.5469969460468218E-2</c:v>
                </c:pt>
                <c:pt idx="80">
                  <c:v>-4.3094672548354196E-2</c:v>
                </c:pt>
                <c:pt idx="81">
                  <c:v>-7.8724126230064528E-2</c:v>
                </c:pt>
                <c:pt idx="82">
                  <c:v>-8.3474720054292462E-2</c:v>
                </c:pt>
                <c:pt idx="83">
                  <c:v>-0.10892432982694256</c:v>
                </c:pt>
                <c:pt idx="84">
                  <c:v>-0.11774686121479472</c:v>
                </c:pt>
                <c:pt idx="85">
                  <c:v>-0.12826603325415664</c:v>
                </c:pt>
                <c:pt idx="86">
                  <c:v>-0.11096029860875467</c:v>
                </c:pt>
                <c:pt idx="87">
                  <c:v>-0.12012215812690874</c:v>
                </c:pt>
                <c:pt idx="88">
                  <c:v>-0.12996267390566674</c:v>
                </c:pt>
                <c:pt idx="89">
                  <c:v>-0.11299626739056667</c:v>
                </c:pt>
                <c:pt idx="90">
                  <c:v>-9.0939938920936547E-2</c:v>
                </c:pt>
                <c:pt idx="91">
                  <c:v>-0.10994231421784861</c:v>
                </c:pt>
                <c:pt idx="92">
                  <c:v>-0.10858500169664065</c:v>
                </c:pt>
                <c:pt idx="93">
                  <c:v>-0.1116389548693586</c:v>
                </c:pt>
                <c:pt idx="94">
                  <c:v>-0.1313199864268747</c:v>
                </c:pt>
                <c:pt idx="95">
                  <c:v>-0.1153715643026807</c:v>
                </c:pt>
                <c:pt idx="96">
                  <c:v>-0.12656939260264677</c:v>
                </c:pt>
                <c:pt idx="97">
                  <c:v>-0.166270783847981</c:v>
                </c:pt>
                <c:pt idx="98">
                  <c:v>-0.18425517475398712</c:v>
                </c:pt>
                <c:pt idx="99">
                  <c:v>-0.18493383101459104</c:v>
                </c:pt>
                <c:pt idx="100">
                  <c:v>-0.2056328469630132</c:v>
                </c:pt>
                <c:pt idx="101">
                  <c:v>-0.16525279945707494</c:v>
                </c:pt>
                <c:pt idx="102">
                  <c:v>-0.18052256532066513</c:v>
                </c:pt>
                <c:pt idx="103">
                  <c:v>-0.20088225313878516</c:v>
                </c:pt>
                <c:pt idx="104">
                  <c:v>-0.14217848659653876</c:v>
                </c:pt>
                <c:pt idx="105">
                  <c:v>-0.15914489311163893</c:v>
                </c:pt>
                <c:pt idx="106">
                  <c:v>-0.17509331523583305</c:v>
                </c:pt>
                <c:pt idx="107">
                  <c:v>-0.16864608076009502</c:v>
                </c:pt>
                <c:pt idx="108">
                  <c:v>-0.16559212758737696</c:v>
                </c:pt>
                <c:pt idx="109">
                  <c:v>-0.1645741431964709</c:v>
                </c:pt>
                <c:pt idx="110">
                  <c:v>-0.17611129962673899</c:v>
                </c:pt>
                <c:pt idx="111">
                  <c:v>-0.1859518154054971</c:v>
                </c:pt>
                <c:pt idx="112">
                  <c:v>-0.19375636240244309</c:v>
                </c:pt>
                <c:pt idx="113">
                  <c:v>-0.24804886325076347</c:v>
                </c:pt>
                <c:pt idx="114">
                  <c:v>-0.22768917543264333</c:v>
                </c:pt>
                <c:pt idx="115">
                  <c:v>-0.23719036308109942</c:v>
                </c:pt>
                <c:pt idx="116">
                  <c:v>-0.19748897183576519</c:v>
                </c:pt>
                <c:pt idx="117">
                  <c:v>-0.20529351883271119</c:v>
                </c:pt>
                <c:pt idx="118">
                  <c:v>-0.19036308109942313</c:v>
                </c:pt>
                <c:pt idx="119">
                  <c:v>-0.19341703427214119</c:v>
                </c:pt>
                <c:pt idx="120">
                  <c:v>-0.22701051917203929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165-E64B-AD7B-F171BEFC847F}"/>
            </c:ext>
          </c:extLst>
        </c:ser>
        <c:ser>
          <c:idx val="4"/>
          <c:order val="4"/>
          <c:tx>
            <c:strRef>
              <c:f>'基准涨跌幅%'!$F$7</c:f>
              <c:strCache>
                <c:ptCount val="1"/>
                <c:pt idx="0">
                  <c:v>新产业
300832.SZ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'基准涨跌幅%'!$A$8:$A$128</c:f>
              <c:numCache>
                <c:formatCode>yyyy\-mm\-dd</c:formatCode>
                <c:ptCount val="121"/>
                <c:pt idx="0">
                  <c:v>46027</c:v>
                </c:pt>
                <c:pt idx="1">
                  <c:v>46028</c:v>
                </c:pt>
                <c:pt idx="2">
                  <c:v>46029</c:v>
                </c:pt>
                <c:pt idx="3">
                  <c:v>46030</c:v>
                </c:pt>
                <c:pt idx="4">
                  <c:v>46031</c:v>
                </c:pt>
                <c:pt idx="5">
                  <c:v>46034</c:v>
                </c:pt>
                <c:pt idx="6">
                  <c:v>46035</c:v>
                </c:pt>
                <c:pt idx="7">
                  <c:v>46036</c:v>
                </c:pt>
                <c:pt idx="8">
                  <c:v>46037</c:v>
                </c:pt>
                <c:pt idx="9">
                  <c:v>46038</c:v>
                </c:pt>
                <c:pt idx="10">
                  <c:v>46041</c:v>
                </c:pt>
                <c:pt idx="11">
                  <c:v>46042</c:v>
                </c:pt>
                <c:pt idx="12">
                  <c:v>46043</c:v>
                </c:pt>
                <c:pt idx="13">
                  <c:v>46044</c:v>
                </c:pt>
                <c:pt idx="14">
                  <c:v>46045</c:v>
                </c:pt>
                <c:pt idx="15">
                  <c:v>46048</c:v>
                </c:pt>
                <c:pt idx="16">
                  <c:v>46049</c:v>
                </c:pt>
                <c:pt idx="17">
                  <c:v>46050</c:v>
                </c:pt>
                <c:pt idx="18">
                  <c:v>46051</c:v>
                </c:pt>
                <c:pt idx="19">
                  <c:v>46052</c:v>
                </c:pt>
                <c:pt idx="20">
                  <c:v>46055</c:v>
                </c:pt>
                <c:pt idx="21">
                  <c:v>46056</c:v>
                </c:pt>
                <c:pt idx="22">
                  <c:v>46057</c:v>
                </c:pt>
                <c:pt idx="23">
                  <c:v>46058</c:v>
                </c:pt>
                <c:pt idx="24">
                  <c:v>46059</c:v>
                </c:pt>
                <c:pt idx="25">
                  <c:v>46062</c:v>
                </c:pt>
                <c:pt idx="26">
                  <c:v>46063</c:v>
                </c:pt>
                <c:pt idx="27">
                  <c:v>46064</c:v>
                </c:pt>
                <c:pt idx="28">
                  <c:v>46065</c:v>
                </c:pt>
                <c:pt idx="29">
                  <c:v>46066</c:v>
                </c:pt>
                <c:pt idx="30">
                  <c:v>46077</c:v>
                </c:pt>
                <c:pt idx="31">
                  <c:v>46078</c:v>
                </c:pt>
                <c:pt idx="32">
                  <c:v>46079</c:v>
                </c:pt>
                <c:pt idx="33">
                  <c:v>46080</c:v>
                </c:pt>
                <c:pt idx="34">
                  <c:v>46083</c:v>
                </c:pt>
                <c:pt idx="35">
                  <c:v>46084</c:v>
                </c:pt>
                <c:pt idx="36">
                  <c:v>46085</c:v>
                </c:pt>
                <c:pt idx="37">
                  <c:v>46086</c:v>
                </c:pt>
                <c:pt idx="38">
                  <c:v>46087</c:v>
                </c:pt>
                <c:pt idx="39">
                  <c:v>46090</c:v>
                </c:pt>
                <c:pt idx="40">
                  <c:v>46091</c:v>
                </c:pt>
                <c:pt idx="41">
                  <c:v>46092</c:v>
                </c:pt>
                <c:pt idx="42">
                  <c:v>46093</c:v>
                </c:pt>
                <c:pt idx="43">
                  <c:v>46094</c:v>
                </c:pt>
                <c:pt idx="44">
                  <c:v>46097</c:v>
                </c:pt>
                <c:pt idx="45">
                  <c:v>46098</c:v>
                </c:pt>
                <c:pt idx="46">
                  <c:v>46099</c:v>
                </c:pt>
                <c:pt idx="47">
                  <c:v>46100</c:v>
                </c:pt>
                <c:pt idx="48">
                  <c:v>46101</c:v>
                </c:pt>
                <c:pt idx="49">
                  <c:v>46104</c:v>
                </c:pt>
                <c:pt idx="50">
                  <c:v>46105</c:v>
                </c:pt>
                <c:pt idx="51">
                  <c:v>46106</c:v>
                </c:pt>
                <c:pt idx="52">
                  <c:v>46107</c:v>
                </c:pt>
                <c:pt idx="53">
                  <c:v>46108</c:v>
                </c:pt>
                <c:pt idx="54">
                  <c:v>46111</c:v>
                </c:pt>
                <c:pt idx="55">
                  <c:v>46112</c:v>
                </c:pt>
                <c:pt idx="56">
                  <c:v>46113</c:v>
                </c:pt>
                <c:pt idx="57">
                  <c:v>46114</c:v>
                </c:pt>
                <c:pt idx="58">
                  <c:v>46115</c:v>
                </c:pt>
                <c:pt idx="59">
                  <c:v>46119</c:v>
                </c:pt>
                <c:pt idx="60">
                  <c:v>46120</c:v>
                </c:pt>
                <c:pt idx="61">
                  <c:v>46121</c:v>
                </c:pt>
                <c:pt idx="62">
                  <c:v>46122</c:v>
                </c:pt>
                <c:pt idx="63">
                  <c:v>46125</c:v>
                </c:pt>
                <c:pt idx="64">
                  <c:v>46126</c:v>
                </c:pt>
                <c:pt idx="65">
                  <c:v>46127</c:v>
                </c:pt>
                <c:pt idx="66">
                  <c:v>46128</c:v>
                </c:pt>
                <c:pt idx="67">
                  <c:v>46129</c:v>
                </c:pt>
                <c:pt idx="68">
                  <c:v>46132</c:v>
                </c:pt>
                <c:pt idx="69">
                  <c:v>46133</c:v>
                </c:pt>
                <c:pt idx="70">
                  <c:v>46134</c:v>
                </c:pt>
                <c:pt idx="71">
                  <c:v>46135</c:v>
                </c:pt>
                <c:pt idx="72">
                  <c:v>46136</c:v>
                </c:pt>
                <c:pt idx="73">
                  <c:v>46139</c:v>
                </c:pt>
                <c:pt idx="74">
                  <c:v>46140</c:v>
                </c:pt>
                <c:pt idx="75">
                  <c:v>46141</c:v>
                </c:pt>
                <c:pt idx="76">
                  <c:v>46142</c:v>
                </c:pt>
                <c:pt idx="77">
                  <c:v>46148</c:v>
                </c:pt>
                <c:pt idx="78">
                  <c:v>46149</c:v>
                </c:pt>
                <c:pt idx="79">
                  <c:v>46150</c:v>
                </c:pt>
                <c:pt idx="80">
                  <c:v>46153</c:v>
                </c:pt>
                <c:pt idx="81">
                  <c:v>46154</c:v>
                </c:pt>
                <c:pt idx="82">
                  <c:v>46155</c:v>
                </c:pt>
                <c:pt idx="83">
                  <c:v>46156</c:v>
                </c:pt>
                <c:pt idx="84">
                  <c:v>46157</c:v>
                </c:pt>
                <c:pt idx="85">
                  <c:v>46160</c:v>
                </c:pt>
                <c:pt idx="86">
                  <c:v>46161</c:v>
                </c:pt>
                <c:pt idx="87">
                  <c:v>46162</c:v>
                </c:pt>
                <c:pt idx="88">
                  <c:v>46163</c:v>
                </c:pt>
                <c:pt idx="89">
                  <c:v>46164</c:v>
                </c:pt>
                <c:pt idx="90">
                  <c:v>46167</c:v>
                </c:pt>
                <c:pt idx="91">
                  <c:v>46168</c:v>
                </c:pt>
                <c:pt idx="92">
                  <c:v>46169</c:v>
                </c:pt>
                <c:pt idx="93">
                  <c:v>46170</c:v>
                </c:pt>
                <c:pt idx="94">
                  <c:v>46171</c:v>
                </c:pt>
                <c:pt idx="95">
                  <c:v>46174</c:v>
                </c:pt>
                <c:pt idx="96">
                  <c:v>46175</c:v>
                </c:pt>
                <c:pt idx="97">
                  <c:v>46176</c:v>
                </c:pt>
                <c:pt idx="98">
                  <c:v>46177</c:v>
                </c:pt>
                <c:pt idx="99">
                  <c:v>46178</c:v>
                </c:pt>
                <c:pt idx="100">
                  <c:v>46181</c:v>
                </c:pt>
                <c:pt idx="101">
                  <c:v>46182</c:v>
                </c:pt>
                <c:pt idx="102">
                  <c:v>46183</c:v>
                </c:pt>
                <c:pt idx="103">
                  <c:v>46184</c:v>
                </c:pt>
                <c:pt idx="104">
                  <c:v>46185</c:v>
                </c:pt>
                <c:pt idx="105">
                  <c:v>46188</c:v>
                </c:pt>
                <c:pt idx="106">
                  <c:v>46189</c:v>
                </c:pt>
                <c:pt idx="107">
                  <c:v>46190</c:v>
                </c:pt>
                <c:pt idx="108">
                  <c:v>46191</c:v>
                </c:pt>
                <c:pt idx="109">
                  <c:v>46195</c:v>
                </c:pt>
                <c:pt idx="110">
                  <c:v>46196</c:v>
                </c:pt>
                <c:pt idx="111">
                  <c:v>46197</c:v>
                </c:pt>
                <c:pt idx="112">
                  <c:v>46198</c:v>
                </c:pt>
                <c:pt idx="113">
                  <c:v>46199</c:v>
                </c:pt>
                <c:pt idx="114">
                  <c:v>46202</c:v>
                </c:pt>
                <c:pt idx="115">
                  <c:v>46203</c:v>
                </c:pt>
                <c:pt idx="116">
                  <c:v>46204</c:v>
                </c:pt>
                <c:pt idx="117">
                  <c:v>46205</c:v>
                </c:pt>
                <c:pt idx="118">
                  <c:v>46206</c:v>
                </c:pt>
                <c:pt idx="119">
                  <c:v>46209</c:v>
                </c:pt>
                <c:pt idx="120">
                  <c:v>46210</c:v>
                </c:pt>
              </c:numCache>
            </c:numRef>
          </c:cat>
          <c:val>
            <c:numRef>
              <c:f>'基准涨跌幅%'!$F$8:$F$128</c:f>
              <c:numCache>
                <c:formatCode>0.00%</c:formatCode>
                <c:ptCount val="121"/>
                <c:pt idx="0">
                  <c:v>0</c:v>
                </c:pt>
                <c:pt idx="1">
                  <c:v>1.0186757215619791E-2</c:v>
                </c:pt>
                <c:pt idx="2">
                  <c:v>1.1884550084889645E-2</c:v>
                </c:pt>
                <c:pt idx="3">
                  <c:v>3.7521222410865862E-2</c:v>
                </c:pt>
                <c:pt idx="4">
                  <c:v>6.655348047538201E-2</c:v>
                </c:pt>
                <c:pt idx="5">
                  <c:v>2.5636672325976217E-2</c:v>
                </c:pt>
                <c:pt idx="6">
                  <c:v>1.3921901528013647E-2</c:v>
                </c:pt>
                <c:pt idx="7">
                  <c:v>8.4889643463514908E-4</c:v>
                </c:pt>
                <c:pt idx="8">
                  <c:v>-1.2393887945670534E-2</c:v>
                </c:pt>
                <c:pt idx="9">
                  <c:v>-1.3582342954159499E-2</c:v>
                </c:pt>
                <c:pt idx="10">
                  <c:v>-1.6129032258064391E-2</c:v>
                </c:pt>
                <c:pt idx="11">
                  <c:v>-3.0050933786078038E-2</c:v>
                </c:pt>
                <c:pt idx="12">
                  <c:v>-3.548387096774186E-2</c:v>
                </c:pt>
                <c:pt idx="13">
                  <c:v>-4.0407470288624681E-2</c:v>
                </c:pt>
                <c:pt idx="14">
                  <c:v>-4.9915110356536507E-2</c:v>
                </c:pt>
                <c:pt idx="15">
                  <c:v>-5.1782682512733436E-2</c:v>
                </c:pt>
                <c:pt idx="16">
                  <c:v>-7.4363327674023649E-2</c:v>
                </c:pt>
                <c:pt idx="17">
                  <c:v>-9.2190152801358227E-2</c:v>
                </c:pt>
                <c:pt idx="18">
                  <c:v>-8.4889643463497477E-2</c:v>
                </c:pt>
                <c:pt idx="19">
                  <c:v>-8.5229202037351404E-2</c:v>
                </c:pt>
                <c:pt idx="20">
                  <c:v>-9.813242784380305E-2</c:v>
                </c:pt>
                <c:pt idx="21">
                  <c:v>-7.4702886247877687E-2</c:v>
                </c:pt>
                <c:pt idx="22">
                  <c:v>-7.385398981324276E-2</c:v>
                </c:pt>
                <c:pt idx="23">
                  <c:v>-7.6570458404074726E-2</c:v>
                </c:pt>
                <c:pt idx="24">
                  <c:v>-8.1494057724957547E-2</c:v>
                </c:pt>
                <c:pt idx="25">
                  <c:v>-8.2512733446519548E-2</c:v>
                </c:pt>
                <c:pt idx="26">
                  <c:v>-9.0322580645161299E-2</c:v>
                </c:pt>
                <c:pt idx="27">
                  <c:v>-9.3548387096774155E-2</c:v>
                </c:pt>
                <c:pt idx="28">
                  <c:v>-0.11035653650254673</c:v>
                </c:pt>
                <c:pt idx="29">
                  <c:v>-0.11629881154499155</c:v>
                </c:pt>
                <c:pt idx="30">
                  <c:v>-0.11273344651952466</c:v>
                </c:pt>
                <c:pt idx="31">
                  <c:v>-0.11324278438030566</c:v>
                </c:pt>
                <c:pt idx="32">
                  <c:v>-0.11884550084889645</c:v>
                </c:pt>
                <c:pt idx="33">
                  <c:v>-0.1115449915110357</c:v>
                </c:pt>
                <c:pt idx="34">
                  <c:v>-0.14176570458404081</c:v>
                </c:pt>
                <c:pt idx="35">
                  <c:v>-0.11290322580645162</c:v>
                </c:pt>
                <c:pt idx="36">
                  <c:v>-0.11137521222410862</c:v>
                </c:pt>
                <c:pt idx="37">
                  <c:v>-0.11765704584040748</c:v>
                </c:pt>
                <c:pt idx="38">
                  <c:v>-7.5042444821731724E-2</c:v>
                </c:pt>
                <c:pt idx="39">
                  <c:v>-9.3548387096774155E-2</c:v>
                </c:pt>
                <c:pt idx="40">
                  <c:v>-8.064516129032262E-2</c:v>
                </c:pt>
                <c:pt idx="41">
                  <c:v>-7.9286926994906692E-2</c:v>
                </c:pt>
                <c:pt idx="42">
                  <c:v>-8.8794567062818297E-2</c:v>
                </c:pt>
                <c:pt idx="43">
                  <c:v>-0.10916808149405777</c:v>
                </c:pt>
                <c:pt idx="44">
                  <c:v>-0.12054329371816641</c:v>
                </c:pt>
                <c:pt idx="45">
                  <c:v>-0.11409168081494059</c:v>
                </c:pt>
                <c:pt idx="46">
                  <c:v>-0.12427843803056027</c:v>
                </c:pt>
                <c:pt idx="47">
                  <c:v>-0.15076400679117141</c:v>
                </c:pt>
                <c:pt idx="48">
                  <c:v>-0.15348047538200338</c:v>
                </c:pt>
                <c:pt idx="49">
                  <c:v>-0.18200339558573853</c:v>
                </c:pt>
                <c:pt idx="50">
                  <c:v>-0.15110356536502545</c:v>
                </c:pt>
                <c:pt idx="51">
                  <c:v>-0.15314091680814934</c:v>
                </c:pt>
                <c:pt idx="52">
                  <c:v>-0.17538200339558574</c:v>
                </c:pt>
                <c:pt idx="53">
                  <c:v>-0.16689303904923591</c:v>
                </c:pt>
                <c:pt idx="54">
                  <c:v>-0.15687606112054331</c:v>
                </c:pt>
                <c:pt idx="55">
                  <c:v>-0.16689303904923591</c:v>
                </c:pt>
                <c:pt idx="56">
                  <c:v>-0.1538200339558573</c:v>
                </c:pt>
                <c:pt idx="57">
                  <c:v>-0.16842105263157903</c:v>
                </c:pt>
                <c:pt idx="58">
                  <c:v>-0.20101867572156196</c:v>
                </c:pt>
                <c:pt idx="59">
                  <c:v>-0.20747028862478778</c:v>
                </c:pt>
                <c:pt idx="60">
                  <c:v>-0.18675721561969438</c:v>
                </c:pt>
                <c:pt idx="61">
                  <c:v>-0.2129032258064516</c:v>
                </c:pt>
                <c:pt idx="62">
                  <c:v>-0.21222410865874364</c:v>
                </c:pt>
                <c:pt idx="63">
                  <c:v>-0.23106960950764011</c:v>
                </c:pt>
                <c:pt idx="64">
                  <c:v>-0.20899830220713067</c:v>
                </c:pt>
                <c:pt idx="65">
                  <c:v>-0.21969439728353135</c:v>
                </c:pt>
                <c:pt idx="66">
                  <c:v>-0.21324278438030553</c:v>
                </c:pt>
                <c:pt idx="67">
                  <c:v>-0.22835314091680803</c:v>
                </c:pt>
                <c:pt idx="68">
                  <c:v>-0.23039049235993214</c:v>
                </c:pt>
                <c:pt idx="69">
                  <c:v>-0.23904923599320882</c:v>
                </c:pt>
                <c:pt idx="70">
                  <c:v>-0.22410865874363317</c:v>
                </c:pt>
                <c:pt idx="71">
                  <c:v>-0.20594227504244478</c:v>
                </c:pt>
                <c:pt idx="72">
                  <c:v>-0.1932088285229201</c:v>
                </c:pt>
                <c:pt idx="73">
                  <c:v>-0.20848896434634978</c:v>
                </c:pt>
                <c:pt idx="74">
                  <c:v>-0.15568760611205434</c:v>
                </c:pt>
                <c:pt idx="75">
                  <c:v>-0.17843803056027163</c:v>
                </c:pt>
                <c:pt idx="76">
                  <c:v>-0.18081494057724956</c:v>
                </c:pt>
                <c:pt idx="77">
                  <c:v>-0.20186757215619699</c:v>
                </c:pt>
                <c:pt idx="78">
                  <c:v>-0.19864176570458403</c:v>
                </c:pt>
                <c:pt idx="79">
                  <c:v>-0.1947368421052631</c:v>
                </c:pt>
                <c:pt idx="80">
                  <c:v>-0.16196943972835309</c:v>
                </c:pt>
                <c:pt idx="81">
                  <c:v>-0.15857385398981316</c:v>
                </c:pt>
                <c:pt idx="82">
                  <c:v>-0.14804753820033956</c:v>
                </c:pt>
                <c:pt idx="83">
                  <c:v>-0.17775891341256367</c:v>
                </c:pt>
                <c:pt idx="84">
                  <c:v>-0.13157894736842102</c:v>
                </c:pt>
                <c:pt idx="85">
                  <c:v>-0.16349745331069598</c:v>
                </c:pt>
                <c:pt idx="86">
                  <c:v>-0.1432937181663837</c:v>
                </c:pt>
                <c:pt idx="87">
                  <c:v>-0.16230899830220702</c:v>
                </c:pt>
                <c:pt idx="88">
                  <c:v>-0.1589134125636672</c:v>
                </c:pt>
                <c:pt idx="89">
                  <c:v>-0.18794567062818335</c:v>
                </c:pt>
                <c:pt idx="90">
                  <c:v>-0.19864176570458403</c:v>
                </c:pt>
                <c:pt idx="91">
                  <c:v>-0.18981324278438028</c:v>
                </c:pt>
                <c:pt idx="92">
                  <c:v>-0.19185059422750417</c:v>
                </c:pt>
                <c:pt idx="93">
                  <c:v>-0.19864176570458403</c:v>
                </c:pt>
                <c:pt idx="94">
                  <c:v>-0.20645161290322578</c:v>
                </c:pt>
                <c:pt idx="95">
                  <c:v>-0.20933786078098471</c:v>
                </c:pt>
                <c:pt idx="96">
                  <c:v>-0.233106960950764</c:v>
                </c:pt>
                <c:pt idx="97">
                  <c:v>-0.24448217317487264</c:v>
                </c:pt>
                <c:pt idx="98">
                  <c:v>-0.26162988115449914</c:v>
                </c:pt>
                <c:pt idx="99">
                  <c:v>-0.24482173174872668</c:v>
                </c:pt>
                <c:pt idx="100">
                  <c:v>-0.24057724957555182</c:v>
                </c:pt>
                <c:pt idx="101">
                  <c:v>-0.26315789473684215</c:v>
                </c:pt>
                <c:pt idx="102">
                  <c:v>-0.28132427843803054</c:v>
                </c:pt>
                <c:pt idx="103">
                  <c:v>-0.25721561969439721</c:v>
                </c:pt>
                <c:pt idx="104">
                  <c:v>-0.26010186757215625</c:v>
                </c:pt>
                <c:pt idx="105">
                  <c:v>-0.25874363327674033</c:v>
                </c:pt>
                <c:pt idx="106">
                  <c:v>-0.26706281833616297</c:v>
                </c:pt>
                <c:pt idx="107">
                  <c:v>-0.27504244482173168</c:v>
                </c:pt>
                <c:pt idx="108">
                  <c:v>-0.28692699490662132</c:v>
                </c:pt>
                <c:pt idx="109">
                  <c:v>-0.27843803056027161</c:v>
                </c:pt>
                <c:pt idx="110">
                  <c:v>-0.27521222410865875</c:v>
                </c:pt>
                <c:pt idx="111">
                  <c:v>-0.29202037351443122</c:v>
                </c:pt>
                <c:pt idx="112">
                  <c:v>-0.27707979626485568</c:v>
                </c:pt>
                <c:pt idx="113">
                  <c:v>-0.28030560271646854</c:v>
                </c:pt>
                <c:pt idx="114">
                  <c:v>-0.2699490662139219</c:v>
                </c:pt>
                <c:pt idx="115">
                  <c:v>-0.28692699490662132</c:v>
                </c:pt>
                <c:pt idx="116">
                  <c:v>-0.25619694397283521</c:v>
                </c:pt>
                <c:pt idx="117">
                  <c:v>-0.24957555178268243</c:v>
                </c:pt>
                <c:pt idx="118">
                  <c:v>-0.24787775891341257</c:v>
                </c:pt>
                <c:pt idx="119">
                  <c:v>-0.30441426146010186</c:v>
                </c:pt>
                <c:pt idx="120">
                  <c:v>-0.33022071307300505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165-E64B-AD7B-F171BEFC847F}"/>
            </c:ext>
          </c:extLst>
        </c:ser>
        <c:ser>
          <c:idx val="5"/>
          <c:order val="5"/>
          <c:tx>
            <c:strRef>
              <c:f>'基准涨跌幅%'!$G$7</c:f>
              <c:strCache>
                <c:ptCount val="1"/>
                <c:pt idx="0">
                  <c:v>圣湘生物
688289.SH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'基准涨跌幅%'!$A$8:$A$128</c:f>
              <c:numCache>
                <c:formatCode>yyyy\-mm\-dd</c:formatCode>
                <c:ptCount val="121"/>
                <c:pt idx="0">
                  <c:v>46027</c:v>
                </c:pt>
                <c:pt idx="1">
                  <c:v>46028</c:v>
                </c:pt>
                <c:pt idx="2">
                  <c:v>46029</c:v>
                </c:pt>
                <c:pt idx="3">
                  <c:v>46030</c:v>
                </c:pt>
                <c:pt idx="4">
                  <c:v>46031</c:v>
                </c:pt>
                <c:pt idx="5">
                  <c:v>46034</c:v>
                </c:pt>
                <c:pt idx="6">
                  <c:v>46035</c:v>
                </c:pt>
                <c:pt idx="7">
                  <c:v>46036</c:v>
                </c:pt>
                <c:pt idx="8">
                  <c:v>46037</c:v>
                </c:pt>
                <c:pt idx="9">
                  <c:v>46038</c:v>
                </c:pt>
                <c:pt idx="10">
                  <c:v>46041</c:v>
                </c:pt>
                <c:pt idx="11">
                  <c:v>46042</c:v>
                </c:pt>
                <c:pt idx="12">
                  <c:v>46043</c:v>
                </c:pt>
                <c:pt idx="13">
                  <c:v>46044</c:v>
                </c:pt>
                <c:pt idx="14">
                  <c:v>46045</c:v>
                </c:pt>
                <c:pt idx="15">
                  <c:v>46048</c:v>
                </c:pt>
                <c:pt idx="16">
                  <c:v>46049</c:v>
                </c:pt>
                <c:pt idx="17">
                  <c:v>46050</c:v>
                </c:pt>
                <c:pt idx="18">
                  <c:v>46051</c:v>
                </c:pt>
                <c:pt idx="19">
                  <c:v>46052</c:v>
                </c:pt>
                <c:pt idx="20">
                  <c:v>46055</c:v>
                </c:pt>
                <c:pt idx="21">
                  <c:v>46056</c:v>
                </c:pt>
                <c:pt idx="22">
                  <c:v>46057</c:v>
                </c:pt>
                <c:pt idx="23">
                  <c:v>46058</c:v>
                </c:pt>
                <c:pt idx="24">
                  <c:v>46059</c:v>
                </c:pt>
                <c:pt idx="25">
                  <c:v>46062</c:v>
                </c:pt>
                <c:pt idx="26">
                  <c:v>46063</c:v>
                </c:pt>
                <c:pt idx="27">
                  <c:v>46064</c:v>
                </c:pt>
                <c:pt idx="28">
                  <c:v>46065</c:v>
                </c:pt>
                <c:pt idx="29">
                  <c:v>46066</c:v>
                </c:pt>
                <c:pt idx="30">
                  <c:v>46077</c:v>
                </c:pt>
                <c:pt idx="31">
                  <c:v>46078</c:v>
                </c:pt>
                <c:pt idx="32">
                  <c:v>46079</c:v>
                </c:pt>
                <c:pt idx="33">
                  <c:v>46080</c:v>
                </c:pt>
                <c:pt idx="34">
                  <c:v>46083</c:v>
                </c:pt>
                <c:pt idx="35">
                  <c:v>46084</c:v>
                </c:pt>
                <c:pt idx="36">
                  <c:v>46085</c:v>
                </c:pt>
                <c:pt idx="37">
                  <c:v>46086</c:v>
                </c:pt>
                <c:pt idx="38">
                  <c:v>46087</c:v>
                </c:pt>
                <c:pt idx="39">
                  <c:v>46090</c:v>
                </c:pt>
                <c:pt idx="40">
                  <c:v>46091</c:v>
                </c:pt>
                <c:pt idx="41">
                  <c:v>46092</c:v>
                </c:pt>
                <c:pt idx="42">
                  <c:v>46093</c:v>
                </c:pt>
                <c:pt idx="43">
                  <c:v>46094</c:v>
                </c:pt>
                <c:pt idx="44">
                  <c:v>46097</c:v>
                </c:pt>
                <c:pt idx="45">
                  <c:v>46098</c:v>
                </c:pt>
                <c:pt idx="46">
                  <c:v>46099</c:v>
                </c:pt>
                <c:pt idx="47">
                  <c:v>46100</c:v>
                </c:pt>
                <c:pt idx="48">
                  <c:v>46101</c:v>
                </c:pt>
                <c:pt idx="49">
                  <c:v>46104</c:v>
                </c:pt>
                <c:pt idx="50">
                  <c:v>46105</c:v>
                </c:pt>
                <c:pt idx="51">
                  <c:v>46106</c:v>
                </c:pt>
                <c:pt idx="52">
                  <c:v>46107</c:v>
                </c:pt>
                <c:pt idx="53">
                  <c:v>46108</c:v>
                </c:pt>
                <c:pt idx="54">
                  <c:v>46111</c:v>
                </c:pt>
                <c:pt idx="55">
                  <c:v>46112</c:v>
                </c:pt>
                <c:pt idx="56">
                  <c:v>46113</c:v>
                </c:pt>
                <c:pt idx="57">
                  <c:v>46114</c:v>
                </c:pt>
                <c:pt idx="58">
                  <c:v>46115</c:v>
                </c:pt>
                <c:pt idx="59">
                  <c:v>46119</c:v>
                </c:pt>
                <c:pt idx="60">
                  <c:v>46120</c:v>
                </c:pt>
                <c:pt idx="61">
                  <c:v>46121</c:v>
                </c:pt>
                <c:pt idx="62">
                  <c:v>46122</c:v>
                </c:pt>
                <c:pt idx="63">
                  <c:v>46125</c:v>
                </c:pt>
                <c:pt idx="64">
                  <c:v>46126</c:v>
                </c:pt>
                <c:pt idx="65">
                  <c:v>46127</c:v>
                </c:pt>
                <c:pt idx="66">
                  <c:v>46128</c:v>
                </c:pt>
                <c:pt idx="67">
                  <c:v>46129</c:v>
                </c:pt>
                <c:pt idx="68">
                  <c:v>46132</c:v>
                </c:pt>
                <c:pt idx="69">
                  <c:v>46133</c:v>
                </c:pt>
                <c:pt idx="70">
                  <c:v>46134</c:v>
                </c:pt>
                <c:pt idx="71">
                  <c:v>46135</c:v>
                </c:pt>
                <c:pt idx="72">
                  <c:v>46136</c:v>
                </c:pt>
                <c:pt idx="73">
                  <c:v>46139</c:v>
                </c:pt>
                <c:pt idx="74">
                  <c:v>46140</c:v>
                </c:pt>
                <c:pt idx="75">
                  <c:v>46141</c:v>
                </c:pt>
                <c:pt idx="76">
                  <c:v>46142</c:v>
                </c:pt>
                <c:pt idx="77">
                  <c:v>46148</c:v>
                </c:pt>
                <c:pt idx="78">
                  <c:v>46149</c:v>
                </c:pt>
                <c:pt idx="79">
                  <c:v>46150</c:v>
                </c:pt>
                <c:pt idx="80">
                  <c:v>46153</c:v>
                </c:pt>
                <c:pt idx="81">
                  <c:v>46154</c:v>
                </c:pt>
                <c:pt idx="82">
                  <c:v>46155</c:v>
                </c:pt>
                <c:pt idx="83">
                  <c:v>46156</c:v>
                </c:pt>
                <c:pt idx="84">
                  <c:v>46157</c:v>
                </c:pt>
                <c:pt idx="85">
                  <c:v>46160</c:v>
                </c:pt>
                <c:pt idx="86">
                  <c:v>46161</c:v>
                </c:pt>
                <c:pt idx="87">
                  <c:v>46162</c:v>
                </c:pt>
                <c:pt idx="88">
                  <c:v>46163</c:v>
                </c:pt>
                <c:pt idx="89">
                  <c:v>46164</c:v>
                </c:pt>
                <c:pt idx="90">
                  <c:v>46167</c:v>
                </c:pt>
                <c:pt idx="91">
                  <c:v>46168</c:v>
                </c:pt>
                <c:pt idx="92">
                  <c:v>46169</c:v>
                </c:pt>
                <c:pt idx="93">
                  <c:v>46170</c:v>
                </c:pt>
                <c:pt idx="94">
                  <c:v>46171</c:v>
                </c:pt>
                <c:pt idx="95">
                  <c:v>46174</c:v>
                </c:pt>
                <c:pt idx="96">
                  <c:v>46175</c:v>
                </c:pt>
                <c:pt idx="97">
                  <c:v>46176</c:v>
                </c:pt>
                <c:pt idx="98">
                  <c:v>46177</c:v>
                </c:pt>
                <c:pt idx="99">
                  <c:v>46178</c:v>
                </c:pt>
                <c:pt idx="100">
                  <c:v>46181</c:v>
                </c:pt>
                <c:pt idx="101">
                  <c:v>46182</c:v>
                </c:pt>
                <c:pt idx="102">
                  <c:v>46183</c:v>
                </c:pt>
                <c:pt idx="103">
                  <c:v>46184</c:v>
                </c:pt>
                <c:pt idx="104">
                  <c:v>46185</c:v>
                </c:pt>
                <c:pt idx="105">
                  <c:v>46188</c:v>
                </c:pt>
                <c:pt idx="106">
                  <c:v>46189</c:v>
                </c:pt>
                <c:pt idx="107">
                  <c:v>46190</c:v>
                </c:pt>
                <c:pt idx="108">
                  <c:v>46191</c:v>
                </c:pt>
                <c:pt idx="109">
                  <c:v>46195</c:v>
                </c:pt>
                <c:pt idx="110">
                  <c:v>46196</c:v>
                </c:pt>
                <c:pt idx="111">
                  <c:v>46197</c:v>
                </c:pt>
                <c:pt idx="112">
                  <c:v>46198</c:v>
                </c:pt>
                <c:pt idx="113">
                  <c:v>46199</c:v>
                </c:pt>
                <c:pt idx="114">
                  <c:v>46202</c:v>
                </c:pt>
                <c:pt idx="115">
                  <c:v>46203</c:v>
                </c:pt>
                <c:pt idx="116">
                  <c:v>46204</c:v>
                </c:pt>
                <c:pt idx="117">
                  <c:v>46205</c:v>
                </c:pt>
                <c:pt idx="118">
                  <c:v>46206</c:v>
                </c:pt>
                <c:pt idx="119">
                  <c:v>46209</c:v>
                </c:pt>
                <c:pt idx="120">
                  <c:v>46210</c:v>
                </c:pt>
              </c:numCache>
            </c:numRef>
          </c:cat>
          <c:val>
            <c:numRef>
              <c:f>'基准涨跌幅%'!$G$8:$G$128</c:f>
              <c:numCache>
                <c:formatCode>0.00%</c:formatCode>
                <c:ptCount val="121"/>
                <c:pt idx="0">
                  <c:v>0</c:v>
                </c:pt>
                <c:pt idx="1">
                  <c:v>9.302325581395321E-3</c:v>
                </c:pt>
                <c:pt idx="2">
                  <c:v>-2.5839793281654533E-3</c:v>
                </c:pt>
                <c:pt idx="3">
                  <c:v>8.2687338501292729E-3</c:v>
                </c:pt>
                <c:pt idx="4">
                  <c:v>3.9793281653746737E-2</c:v>
                </c:pt>
                <c:pt idx="5">
                  <c:v>6.873385012919897E-2</c:v>
                </c:pt>
                <c:pt idx="6">
                  <c:v>6.9250645994832105E-2</c:v>
                </c:pt>
                <c:pt idx="7">
                  <c:v>6.201550387596888E-2</c:v>
                </c:pt>
                <c:pt idx="8">
                  <c:v>4.1860465116279055E-2</c:v>
                </c:pt>
                <c:pt idx="9">
                  <c:v>2.9974160206718281E-2</c:v>
                </c:pt>
                <c:pt idx="10">
                  <c:v>2.5839793281653645E-2</c:v>
                </c:pt>
                <c:pt idx="11">
                  <c:v>2.1188630490956095E-2</c:v>
                </c:pt>
                <c:pt idx="12">
                  <c:v>2.3255813953488413E-2</c:v>
                </c:pt>
                <c:pt idx="13">
                  <c:v>2.5839793281653645E-2</c:v>
                </c:pt>
                <c:pt idx="14">
                  <c:v>4.237726098191219E-2</c:v>
                </c:pt>
                <c:pt idx="15">
                  <c:v>0.13591731266149876</c:v>
                </c:pt>
                <c:pt idx="16">
                  <c:v>0.14315245478036176</c:v>
                </c:pt>
                <c:pt idx="17">
                  <c:v>6.8217054263565835E-2</c:v>
                </c:pt>
                <c:pt idx="18">
                  <c:v>4.3927648578811151E-2</c:v>
                </c:pt>
                <c:pt idx="19">
                  <c:v>4.9095607235142058E-2</c:v>
                </c:pt>
                <c:pt idx="20">
                  <c:v>2.7390180878552828E-2</c:v>
                </c:pt>
                <c:pt idx="21">
                  <c:v>3.4108527131782918E-2</c:v>
                </c:pt>
                <c:pt idx="22">
                  <c:v>3.3074935400516647E-2</c:v>
                </c:pt>
                <c:pt idx="23">
                  <c:v>3.3591731266149782E-2</c:v>
                </c:pt>
                <c:pt idx="24">
                  <c:v>3.2041343669250599E-2</c:v>
                </c:pt>
                <c:pt idx="25">
                  <c:v>3.8759689922480689E-2</c:v>
                </c:pt>
                <c:pt idx="26">
                  <c:v>3.3591731266149782E-2</c:v>
                </c:pt>
                <c:pt idx="27">
                  <c:v>2.3772609819121326E-2</c:v>
                </c:pt>
                <c:pt idx="28">
                  <c:v>9.819121447028234E-3</c:v>
                </c:pt>
                <c:pt idx="29">
                  <c:v>-2.0671834625324292E-3</c:v>
                </c:pt>
                <c:pt idx="30">
                  <c:v>4.1343669250644144E-3</c:v>
                </c:pt>
                <c:pt idx="31">
                  <c:v>6.7183462532298677E-3</c:v>
                </c:pt>
                <c:pt idx="32">
                  <c:v>-8.2687338501291618E-3</c:v>
                </c:pt>
                <c:pt idx="33">
                  <c:v>-7.7519379844962488E-3</c:v>
                </c:pt>
                <c:pt idx="34">
                  <c:v>-4.3927648578811485E-2</c:v>
                </c:pt>
                <c:pt idx="35">
                  <c:v>-6.5633074935400715E-2</c:v>
                </c:pt>
                <c:pt idx="36">
                  <c:v>-6.7700258397932922E-2</c:v>
                </c:pt>
                <c:pt idx="37">
                  <c:v>-6.5633074935400715E-2</c:v>
                </c:pt>
                <c:pt idx="38">
                  <c:v>-5.2196382428940646E-2</c:v>
                </c:pt>
                <c:pt idx="39">
                  <c:v>-4.8578811369509145E-2</c:v>
                </c:pt>
                <c:pt idx="40">
                  <c:v>-4.2894056847545325E-2</c:v>
                </c:pt>
                <c:pt idx="41">
                  <c:v>-5.3229974160206806E-2</c:v>
                </c:pt>
                <c:pt idx="42">
                  <c:v>-5.8914728682170514E-2</c:v>
                </c:pt>
                <c:pt idx="43">
                  <c:v>-5.5297157622739013E-2</c:v>
                </c:pt>
                <c:pt idx="44">
                  <c:v>-2.170542635658923E-2</c:v>
                </c:pt>
                <c:pt idx="45">
                  <c:v>-2.170542635658923E-2</c:v>
                </c:pt>
                <c:pt idx="46">
                  <c:v>-1.3953488372093203E-2</c:v>
                </c:pt>
                <c:pt idx="47">
                  <c:v>-2.5839793281653756E-2</c:v>
                </c:pt>
                <c:pt idx="48">
                  <c:v>-3.9793281653746959E-2</c:v>
                </c:pt>
                <c:pt idx="49">
                  <c:v>-6.8217054263565946E-2</c:v>
                </c:pt>
                <c:pt idx="50">
                  <c:v>-5.47803617571061E-2</c:v>
                </c:pt>
                <c:pt idx="51">
                  <c:v>-5.6330749354005172E-2</c:v>
                </c:pt>
                <c:pt idx="52">
                  <c:v>-7.6485788113695108E-2</c:v>
                </c:pt>
                <c:pt idx="53">
                  <c:v>-5.5297157622739013E-2</c:v>
                </c:pt>
                <c:pt idx="54">
                  <c:v>-6.9250645994831994E-2</c:v>
                </c:pt>
                <c:pt idx="55">
                  <c:v>-6.6666666666666763E-2</c:v>
                </c:pt>
                <c:pt idx="56">
                  <c:v>-4.5994832041343692E-2</c:v>
                </c:pt>
                <c:pt idx="57">
                  <c:v>-5.7364341085271442E-2</c:v>
                </c:pt>
                <c:pt idx="58">
                  <c:v>-8.2170542635658927E-2</c:v>
                </c:pt>
                <c:pt idx="59">
                  <c:v>-6.3565891472868286E-2</c:v>
                </c:pt>
                <c:pt idx="60">
                  <c:v>-4.5478036175710668E-2</c:v>
                </c:pt>
                <c:pt idx="61">
                  <c:v>-5.8397932816537601E-2</c:v>
                </c:pt>
                <c:pt idx="62">
                  <c:v>-5.3746770025839941E-2</c:v>
                </c:pt>
                <c:pt idx="63">
                  <c:v>-6.5116279069767469E-2</c:v>
                </c:pt>
                <c:pt idx="64">
                  <c:v>-5.47803617571061E-2</c:v>
                </c:pt>
                <c:pt idx="65">
                  <c:v>-5.6330749354005172E-2</c:v>
                </c:pt>
                <c:pt idx="66">
                  <c:v>-5.8397932816537601E-2</c:v>
                </c:pt>
                <c:pt idx="67">
                  <c:v>-7.4935400516796036E-2</c:v>
                </c:pt>
                <c:pt idx="68">
                  <c:v>-7.2868217054263607E-2</c:v>
                </c:pt>
                <c:pt idx="69">
                  <c:v>-7.7002583979328243E-2</c:v>
                </c:pt>
                <c:pt idx="70">
                  <c:v>-7.5968992248062084E-2</c:v>
                </c:pt>
                <c:pt idx="71">
                  <c:v>-8.7338501291989723E-2</c:v>
                </c:pt>
                <c:pt idx="72">
                  <c:v>-9.8708010335917362E-2</c:v>
                </c:pt>
                <c:pt idx="73">
                  <c:v>-0.11472868217054277</c:v>
                </c:pt>
                <c:pt idx="74">
                  <c:v>-0.10904392764857895</c:v>
                </c:pt>
                <c:pt idx="75">
                  <c:v>-9.974160206718341E-2</c:v>
                </c:pt>
                <c:pt idx="76">
                  <c:v>-0.11369509043927661</c:v>
                </c:pt>
                <c:pt idx="77">
                  <c:v>-0.11059431524547803</c:v>
                </c:pt>
                <c:pt idx="78">
                  <c:v>-9.7674418604651203E-2</c:v>
                </c:pt>
                <c:pt idx="79">
                  <c:v>-6.3565891472868286E-2</c:v>
                </c:pt>
                <c:pt idx="80">
                  <c:v>-1.4987080103359363E-2</c:v>
                </c:pt>
                <c:pt idx="81">
                  <c:v>-5.6847545219638307E-2</c:v>
                </c:pt>
                <c:pt idx="82">
                  <c:v>-6.5633074935400715E-2</c:v>
                </c:pt>
                <c:pt idx="83">
                  <c:v>-8.5788113695090429E-2</c:v>
                </c:pt>
                <c:pt idx="84">
                  <c:v>-9.8191214470284338E-2</c:v>
                </c:pt>
                <c:pt idx="85">
                  <c:v>-9.6640826873385044E-2</c:v>
                </c:pt>
                <c:pt idx="86">
                  <c:v>-9.1989664082687383E-2</c:v>
                </c:pt>
                <c:pt idx="87">
                  <c:v>-8.3204134366925198E-2</c:v>
                </c:pt>
                <c:pt idx="88">
                  <c:v>-0.10542635658914745</c:v>
                </c:pt>
                <c:pt idx="89">
                  <c:v>-0.10025839793281655</c:v>
                </c:pt>
                <c:pt idx="90">
                  <c:v>-9.3540051679586678E-2</c:v>
                </c:pt>
                <c:pt idx="91">
                  <c:v>-9.3023255813953543E-2</c:v>
                </c:pt>
                <c:pt idx="92">
                  <c:v>-0.14005167958656339</c:v>
                </c:pt>
                <c:pt idx="93">
                  <c:v>-0.16279069767441867</c:v>
                </c:pt>
                <c:pt idx="94">
                  <c:v>-0.15297157622739022</c:v>
                </c:pt>
                <c:pt idx="95">
                  <c:v>-0.14470284237726105</c:v>
                </c:pt>
                <c:pt idx="96">
                  <c:v>-0.16175710594315262</c:v>
                </c:pt>
                <c:pt idx="97">
                  <c:v>-0.18863049095607243</c:v>
                </c:pt>
                <c:pt idx="98">
                  <c:v>-0.21498708010335921</c:v>
                </c:pt>
                <c:pt idx="99">
                  <c:v>-0.20413436692506459</c:v>
                </c:pt>
                <c:pt idx="100">
                  <c:v>-0.22222222222222221</c:v>
                </c:pt>
                <c:pt idx="101">
                  <c:v>-0.23204134366925078</c:v>
                </c:pt>
                <c:pt idx="102">
                  <c:v>-0.24237726098191215</c:v>
                </c:pt>
                <c:pt idx="103">
                  <c:v>-0.25891472868217058</c:v>
                </c:pt>
                <c:pt idx="104">
                  <c:v>-0.25788113695090442</c:v>
                </c:pt>
                <c:pt idx="105">
                  <c:v>-0.25684754521963826</c:v>
                </c:pt>
                <c:pt idx="106">
                  <c:v>-0.25994832041343674</c:v>
                </c:pt>
                <c:pt idx="107">
                  <c:v>-0.26666666666666672</c:v>
                </c:pt>
                <c:pt idx="108">
                  <c:v>-0.25943152454780372</c:v>
                </c:pt>
                <c:pt idx="109">
                  <c:v>-0.28268733850129202</c:v>
                </c:pt>
                <c:pt idx="110">
                  <c:v>-0.26770025839793288</c:v>
                </c:pt>
                <c:pt idx="111">
                  <c:v>-0.26253229974160219</c:v>
                </c:pt>
                <c:pt idx="112">
                  <c:v>-0.28320413436692515</c:v>
                </c:pt>
                <c:pt idx="113">
                  <c:v>-0.27028423772609833</c:v>
                </c:pt>
                <c:pt idx="114">
                  <c:v>-0.24031007751937994</c:v>
                </c:pt>
                <c:pt idx="115">
                  <c:v>-0.2558139534883721</c:v>
                </c:pt>
                <c:pt idx="116">
                  <c:v>-0.21033591731266155</c:v>
                </c:pt>
                <c:pt idx="117">
                  <c:v>-0.22222222222222221</c:v>
                </c:pt>
                <c:pt idx="118">
                  <c:v>-0.21860465116279082</c:v>
                </c:pt>
                <c:pt idx="119">
                  <c:v>-0.21808785529715768</c:v>
                </c:pt>
                <c:pt idx="120">
                  <c:v>-0.2485788113695091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165-E64B-AD7B-F171BEFC847F}"/>
            </c:ext>
          </c:extLst>
        </c:ser>
        <c:ser>
          <c:idx val="6"/>
          <c:order val="6"/>
          <c:tx>
            <c:strRef>
              <c:f>'基准涨跌幅%'!$H$7</c:f>
              <c:strCache>
                <c:ptCount val="1"/>
                <c:pt idx="0">
                  <c:v>迈瑞医疗
300760.SZ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'基准涨跌幅%'!$A$8:$A$128</c:f>
              <c:numCache>
                <c:formatCode>yyyy\-mm\-dd</c:formatCode>
                <c:ptCount val="121"/>
                <c:pt idx="0">
                  <c:v>46027</c:v>
                </c:pt>
                <c:pt idx="1">
                  <c:v>46028</c:v>
                </c:pt>
                <c:pt idx="2">
                  <c:v>46029</c:v>
                </c:pt>
                <c:pt idx="3">
                  <c:v>46030</c:v>
                </c:pt>
                <c:pt idx="4">
                  <c:v>46031</c:v>
                </c:pt>
                <c:pt idx="5">
                  <c:v>46034</c:v>
                </c:pt>
                <c:pt idx="6">
                  <c:v>46035</c:v>
                </c:pt>
                <c:pt idx="7">
                  <c:v>46036</c:v>
                </c:pt>
                <c:pt idx="8">
                  <c:v>46037</c:v>
                </c:pt>
                <c:pt idx="9">
                  <c:v>46038</c:v>
                </c:pt>
                <c:pt idx="10">
                  <c:v>46041</c:v>
                </c:pt>
                <c:pt idx="11">
                  <c:v>46042</c:v>
                </c:pt>
                <c:pt idx="12">
                  <c:v>46043</c:v>
                </c:pt>
                <c:pt idx="13">
                  <c:v>46044</c:v>
                </c:pt>
                <c:pt idx="14">
                  <c:v>46045</c:v>
                </c:pt>
                <c:pt idx="15">
                  <c:v>46048</c:v>
                </c:pt>
                <c:pt idx="16">
                  <c:v>46049</c:v>
                </c:pt>
                <c:pt idx="17">
                  <c:v>46050</c:v>
                </c:pt>
                <c:pt idx="18">
                  <c:v>46051</c:v>
                </c:pt>
                <c:pt idx="19">
                  <c:v>46052</c:v>
                </c:pt>
                <c:pt idx="20">
                  <c:v>46055</c:v>
                </c:pt>
                <c:pt idx="21">
                  <c:v>46056</c:v>
                </c:pt>
                <c:pt idx="22">
                  <c:v>46057</c:v>
                </c:pt>
                <c:pt idx="23">
                  <c:v>46058</c:v>
                </c:pt>
                <c:pt idx="24">
                  <c:v>46059</c:v>
                </c:pt>
                <c:pt idx="25">
                  <c:v>46062</c:v>
                </c:pt>
                <c:pt idx="26">
                  <c:v>46063</c:v>
                </c:pt>
                <c:pt idx="27">
                  <c:v>46064</c:v>
                </c:pt>
                <c:pt idx="28">
                  <c:v>46065</c:v>
                </c:pt>
                <c:pt idx="29">
                  <c:v>46066</c:v>
                </c:pt>
                <c:pt idx="30">
                  <c:v>46077</c:v>
                </c:pt>
                <c:pt idx="31">
                  <c:v>46078</c:v>
                </c:pt>
                <c:pt idx="32">
                  <c:v>46079</c:v>
                </c:pt>
                <c:pt idx="33">
                  <c:v>46080</c:v>
                </c:pt>
                <c:pt idx="34">
                  <c:v>46083</c:v>
                </c:pt>
                <c:pt idx="35">
                  <c:v>46084</c:v>
                </c:pt>
                <c:pt idx="36">
                  <c:v>46085</c:v>
                </c:pt>
                <c:pt idx="37">
                  <c:v>46086</c:v>
                </c:pt>
                <c:pt idx="38">
                  <c:v>46087</c:v>
                </c:pt>
                <c:pt idx="39">
                  <c:v>46090</c:v>
                </c:pt>
                <c:pt idx="40">
                  <c:v>46091</c:v>
                </c:pt>
                <c:pt idx="41">
                  <c:v>46092</c:v>
                </c:pt>
                <c:pt idx="42">
                  <c:v>46093</c:v>
                </c:pt>
                <c:pt idx="43">
                  <c:v>46094</c:v>
                </c:pt>
                <c:pt idx="44">
                  <c:v>46097</c:v>
                </c:pt>
                <c:pt idx="45">
                  <c:v>46098</c:v>
                </c:pt>
                <c:pt idx="46">
                  <c:v>46099</c:v>
                </c:pt>
                <c:pt idx="47">
                  <c:v>46100</c:v>
                </c:pt>
                <c:pt idx="48">
                  <c:v>46101</c:v>
                </c:pt>
                <c:pt idx="49">
                  <c:v>46104</c:v>
                </c:pt>
                <c:pt idx="50">
                  <c:v>46105</c:v>
                </c:pt>
                <c:pt idx="51">
                  <c:v>46106</c:v>
                </c:pt>
                <c:pt idx="52">
                  <c:v>46107</c:v>
                </c:pt>
                <c:pt idx="53">
                  <c:v>46108</c:v>
                </c:pt>
                <c:pt idx="54">
                  <c:v>46111</c:v>
                </c:pt>
                <c:pt idx="55">
                  <c:v>46112</c:v>
                </c:pt>
                <c:pt idx="56">
                  <c:v>46113</c:v>
                </c:pt>
                <c:pt idx="57">
                  <c:v>46114</c:v>
                </c:pt>
                <c:pt idx="58">
                  <c:v>46115</c:v>
                </c:pt>
                <c:pt idx="59">
                  <c:v>46119</c:v>
                </c:pt>
                <c:pt idx="60">
                  <c:v>46120</c:v>
                </c:pt>
                <c:pt idx="61">
                  <c:v>46121</c:v>
                </c:pt>
                <c:pt idx="62">
                  <c:v>46122</c:v>
                </c:pt>
                <c:pt idx="63">
                  <c:v>46125</c:v>
                </c:pt>
                <c:pt idx="64">
                  <c:v>46126</c:v>
                </c:pt>
                <c:pt idx="65">
                  <c:v>46127</c:v>
                </c:pt>
                <c:pt idx="66">
                  <c:v>46128</c:v>
                </c:pt>
                <c:pt idx="67">
                  <c:v>46129</c:v>
                </c:pt>
                <c:pt idx="68">
                  <c:v>46132</c:v>
                </c:pt>
                <c:pt idx="69">
                  <c:v>46133</c:v>
                </c:pt>
                <c:pt idx="70">
                  <c:v>46134</c:v>
                </c:pt>
                <c:pt idx="71">
                  <c:v>46135</c:v>
                </c:pt>
                <c:pt idx="72">
                  <c:v>46136</c:v>
                </c:pt>
                <c:pt idx="73">
                  <c:v>46139</c:v>
                </c:pt>
                <c:pt idx="74">
                  <c:v>46140</c:v>
                </c:pt>
                <c:pt idx="75">
                  <c:v>46141</c:v>
                </c:pt>
                <c:pt idx="76">
                  <c:v>46142</c:v>
                </c:pt>
                <c:pt idx="77">
                  <c:v>46148</c:v>
                </c:pt>
                <c:pt idx="78">
                  <c:v>46149</c:v>
                </c:pt>
                <c:pt idx="79">
                  <c:v>46150</c:v>
                </c:pt>
                <c:pt idx="80">
                  <c:v>46153</c:v>
                </c:pt>
                <c:pt idx="81">
                  <c:v>46154</c:v>
                </c:pt>
                <c:pt idx="82">
                  <c:v>46155</c:v>
                </c:pt>
                <c:pt idx="83">
                  <c:v>46156</c:v>
                </c:pt>
                <c:pt idx="84">
                  <c:v>46157</c:v>
                </c:pt>
                <c:pt idx="85">
                  <c:v>46160</c:v>
                </c:pt>
                <c:pt idx="86">
                  <c:v>46161</c:v>
                </c:pt>
                <c:pt idx="87">
                  <c:v>46162</c:v>
                </c:pt>
                <c:pt idx="88">
                  <c:v>46163</c:v>
                </c:pt>
                <c:pt idx="89">
                  <c:v>46164</c:v>
                </c:pt>
                <c:pt idx="90">
                  <c:v>46167</c:v>
                </c:pt>
                <c:pt idx="91">
                  <c:v>46168</c:v>
                </c:pt>
                <c:pt idx="92">
                  <c:v>46169</c:v>
                </c:pt>
                <c:pt idx="93">
                  <c:v>46170</c:v>
                </c:pt>
                <c:pt idx="94">
                  <c:v>46171</c:v>
                </c:pt>
                <c:pt idx="95">
                  <c:v>46174</c:v>
                </c:pt>
                <c:pt idx="96">
                  <c:v>46175</c:v>
                </c:pt>
                <c:pt idx="97">
                  <c:v>46176</c:v>
                </c:pt>
                <c:pt idx="98">
                  <c:v>46177</c:v>
                </c:pt>
                <c:pt idx="99">
                  <c:v>46178</c:v>
                </c:pt>
                <c:pt idx="100">
                  <c:v>46181</c:v>
                </c:pt>
                <c:pt idx="101">
                  <c:v>46182</c:v>
                </c:pt>
                <c:pt idx="102">
                  <c:v>46183</c:v>
                </c:pt>
                <c:pt idx="103">
                  <c:v>46184</c:v>
                </c:pt>
                <c:pt idx="104">
                  <c:v>46185</c:v>
                </c:pt>
                <c:pt idx="105">
                  <c:v>46188</c:v>
                </c:pt>
                <c:pt idx="106">
                  <c:v>46189</c:v>
                </c:pt>
                <c:pt idx="107">
                  <c:v>46190</c:v>
                </c:pt>
                <c:pt idx="108">
                  <c:v>46191</c:v>
                </c:pt>
                <c:pt idx="109">
                  <c:v>46195</c:v>
                </c:pt>
                <c:pt idx="110">
                  <c:v>46196</c:v>
                </c:pt>
                <c:pt idx="111">
                  <c:v>46197</c:v>
                </c:pt>
                <c:pt idx="112">
                  <c:v>46198</c:v>
                </c:pt>
                <c:pt idx="113">
                  <c:v>46199</c:v>
                </c:pt>
                <c:pt idx="114">
                  <c:v>46202</c:v>
                </c:pt>
                <c:pt idx="115">
                  <c:v>46203</c:v>
                </c:pt>
                <c:pt idx="116">
                  <c:v>46204</c:v>
                </c:pt>
                <c:pt idx="117">
                  <c:v>46205</c:v>
                </c:pt>
                <c:pt idx="118">
                  <c:v>46206</c:v>
                </c:pt>
                <c:pt idx="119">
                  <c:v>46209</c:v>
                </c:pt>
                <c:pt idx="120">
                  <c:v>46210</c:v>
                </c:pt>
              </c:numCache>
            </c:numRef>
          </c:cat>
          <c:val>
            <c:numRef>
              <c:f>'基准涨跌幅%'!$H$8:$H$128</c:f>
              <c:numCache>
                <c:formatCode>0.00%</c:formatCode>
                <c:ptCount val="121"/>
                <c:pt idx="0">
                  <c:v>0</c:v>
                </c:pt>
                <c:pt idx="1">
                  <c:v>2.1743486973947901E-2</c:v>
                </c:pt>
                <c:pt idx="2">
                  <c:v>6.3627254509017739E-3</c:v>
                </c:pt>
                <c:pt idx="3">
                  <c:v>1.0571142284569124E-2</c:v>
                </c:pt>
                <c:pt idx="4">
                  <c:v>2.0440881763527097E-2</c:v>
                </c:pt>
                <c:pt idx="5">
                  <c:v>4.2234468937875747E-2</c:v>
                </c:pt>
                <c:pt idx="6">
                  <c:v>4.3186372745491086E-2</c:v>
                </c:pt>
                <c:pt idx="7">
                  <c:v>4.0881763527054193E-2</c:v>
                </c:pt>
                <c:pt idx="8">
                  <c:v>2.2444889779559274E-2</c:v>
                </c:pt>
                <c:pt idx="9">
                  <c:v>7.9659318637275156E-3</c:v>
                </c:pt>
                <c:pt idx="10">
                  <c:v>2.9559118236472948E-3</c:v>
                </c:pt>
                <c:pt idx="11">
                  <c:v>-1.3026052104208374E-2</c:v>
                </c:pt>
                <c:pt idx="12">
                  <c:v>-2.1543086172344572E-2</c:v>
                </c:pt>
                <c:pt idx="13">
                  <c:v>-3.0561122244488925E-2</c:v>
                </c:pt>
                <c:pt idx="14">
                  <c:v>-2.0490981963927846E-2</c:v>
                </c:pt>
                <c:pt idx="15">
                  <c:v>-2.2545090180360772E-2</c:v>
                </c:pt>
                <c:pt idx="16">
                  <c:v>-3.7274549098196386E-2</c:v>
                </c:pt>
                <c:pt idx="17">
                  <c:v>-5.781563126252498E-2</c:v>
                </c:pt>
                <c:pt idx="18">
                  <c:v>-3.1162324649298578E-2</c:v>
                </c:pt>
                <c:pt idx="19">
                  <c:v>-5.1803607214428893E-2</c:v>
                </c:pt>
                <c:pt idx="20">
                  <c:v>-6.2575150300601123E-2</c:v>
                </c:pt>
                <c:pt idx="21">
                  <c:v>-5.7364729458917796E-2</c:v>
                </c:pt>
                <c:pt idx="22">
                  <c:v>-3.4769539078156275E-2</c:v>
                </c:pt>
                <c:pt idx="23">
                  <c:v>-3.7575150300601212E-2</c:v>
                </c:pt>
                <c:pt idx="24">
                  <c:v>-5.0651302605210335E-2</c:v>
                </c:pt>
                <c:pt idx="25">
                  <c:v>-5.2254509018036077E-2</c:v>
                </c:pt>
                <c:pt idx="26">
                  <c:v>-4.6292585170340628E-2</c:v>
                </c:pt>
                <c:pt idx="27">
                  <c:v>-5.2054108216432748E-2</c:v>
                </c:pt>
                <c:pt idx="28">
                  <c:v>-5.8116232464929807E-2</c:v>
                </c:pt>
                <c:pt idx="29">
                  <c:v>-6.9288577154308584E-2</c:v>
                </c:pt>
                <c:pt idx="30">
                  <c:v>-6.713426853707416E-2</c:v>
                </c:pt>
                <c:pt idx="31">
                  <c:v>-6.3326653306613134E-2</c:v>
                </c:pt>
                <c:pt idx="32">
                  <c:v>-6.1723446893787504E-2</c:v>
                </c:pt>
                <c:pt idx="33">
                  <c:v>-6.8537074148296684E-2</c:v>
                </c:pt>
                <c:pt idx="34">
                  <c:v>-7.9659318637274601E-2</c:v>
                </c:pt>
                <c:pt idx="35">
                  <c:v>-9.6192384769539063E-2</c:v>
                </c:pt>
                <c:pt idx="36">
                  <c:v>-0.11948897795591185</c:v>
                </c:pt>
                <c:pt idx="37">
                  <c:v>-0.11723446893787581</c:v>
                </c:pt>
                <c:pt idx="38">
                  <c:v>-9.1332665330661311E-2</c:v>
                </c:pt>
                <c:pt idx="39">
                  <c:v>-0.10430861723446894</c:v>
                </c:pt>
                <c:pt idx="40">
                  <c:v>-9.649298597194389E-2</c:v>
                </c:pt>
                <c:pt idx="41">
                  <c:v>-9.5340681362725443E-2</c:v>
                </c:pt>
                <c:pt idx="42">
                  <c:v>-0.10731462925851698</c:v>
                </c:pt>
                <c:pt idx="43">
                  <c:v>-0.10536072144288577</c:v>
                </c:pt>
                <c:pt idx="44">
                  <c:v>-0.11197394789579151</c:v>
                </c:pt>
                <c:pt idx="45">
                  <c:v>-0.10771543086172342</c:v>
                </c:pt>
                <c:pt idx="46">
                  <c:v>-0.12364729458917845</c:v>
                </c:pt>
                <c:pt idx="47">
                  <c:v>-0.1389779559118236</c:v>
                </c:pt>
                <c:pt idx="48">
                  <c:v>-0.15070140280561117</c:v>
                </c:pt>
                <c:pt idx="49">
                  <c:v>-0.17029058116232454</c:v>
                </c:pt>
                <c:pt idx="50">
                  <c:v>-0.16648296593186374</c:v>
                </c:pt>
                <c:pt idx="51">
                  <c:v>-0.16097194388777558</c:v>
                </c:pt>
                <c:pt idx="52">
                  <c:v>-0.17685370741482953</c:v>
                </c:pt>
                <c:pt idx="53">
                  <c:v>-0.15030060120240485</c:v>
                </c:pt>
                <c:pt idx="54">
                  <c:v>-0.1444388777555109</c:v>
                </c:pt>
                <c:pt idx="55">
                  <c:v>-0.17505010020040079</c:v>
                </c:pt>
                <c:pt idx="56">
                  <c:v>-0.16883767535070138</c:v>
                </c:pt>
                <c:pt idx="57">
                  <c:v>-0.18637274549098193</c:v>
                </c:pt>
                <c:pt idx="58">
                  <c:v>-0.20641282565130259</c:v>
                </c:pt>
                <c:pt idx="59">
                  <c:v>-0.20961923847695396</c:v>
                </c:pt>
                <c:pt idx="60">
                  <c:v>-0.18376753507014032</c:v>
                </c:pt>
                <c:pt idx="61">
                  <c:v>-0.21693386773547085</c:v>
                </c:pt>
                <c:pt idx="62">
                  <c:v>-0.20751503006012018</c:v>
                </c:pt>
                <c:pt idx="63">
                  <c:v>-0.20871743486973948</c:v>
                </c:pt>
                <c:pt idx="64">
                  <c:v>-0.19609218436873743</c:v>
                </c:pt>
                <c:pt idx="65">
                  <c:v>-0.19689378757515019</c:v>
                </c:pt>
                <c:pt idx="66">
                  <c:v>-0.19609218436873743</c:v>
                </c:pt>
                <c:pt idx="67">
                  <c:v>-0.21467935871743482</c:v>
                </c:pt>
                <c:pt idx="68">
                  <c:v>-0.20791583166332661</c:v>
                </c:pt>
                <c:pt idx="69">
                  <c:v>-0.20415831663326656</c:v>
                </c:pt>
                <c:pt idx="70">
                  <c:v>-0.20040080160320639</c:v>
                </c:pt>
                <c:pt idx="71">
                  <c:v>-0.193186372745491</c:v>
                </c:pt>
                <c:pt idx="72">
                  <c:v>-0.19338677354709422</c:v>
                </c:pt>
                <c:pt idx="73">
                  <c:v>-0.20836673346693391</c:v>
                </c:pt>
                <c:pt idx="74">
                  <c:v>-0.19283567134268531</c:v>
                </c:pt>
                <c:pt idx="75">
                  <c:v>-0.15631262525050094</c:v>
                </c:pt>
                <c:pt idx="76">
                  <c:v>-0.15631262525050094</c:v>
                </c:pt>
                <c:pt idx="77">
                  <c:v>-0.13486973947895786</c:v>
                </c:pt>
                <c:pt idx="78">
                  <c:v>-0.14579158316633267</c:v>
                </c:pt>
                <c:pt idx="79">
                  <c:v>-0.14524048096192377</c:v>
                </c:pt>
                <c:pt idx="80">
                  <c:v>-0.15225450901803605</c:v>
                </c:pt>
                <c:pt idx="81">
                  <c:v>-0.16638276553106213</c:v>
                </c:pt>
                <c:pt idx="82">
                  <c:v>-0.16863727454909816</c:v>
                </c:pt>
                <c:pt idx="83">
                  <c:v>-0.19218436873747491</c:v>
                </c:pt>
                <c:pt idx="84">
                  <c:v>-0.19654308617234462</c:v>
                </c:pt>
                <c:pt idx="85">
                  <c:v>-0.2167835671342685</c:v>
                </c:pt>
                <c:pt idx="86">
                  <c:v>-0.20766533066132264</c:v>
                </c:pt>
                <c:pt idx="87">
                  <c:v>-0.22444889779559107</c:v>
                </c:pt>
                <c:pt idx="88">
                  <c:v>-0.20711422845691385</c:v>
                </c:pt>
                <c:pt idx="89">
                  <c:v>-0.23346693386773543</c:v>
                </c:pt>
                <c:pt idx="90">
                  <c:v>-0.23031062124248503</c:v>
                </c:pt>
                <c:pt idx="91">
                  <c:v>-0.23271543086172342</c:v>
                </c:pt>
                <c:pt idx="92">
                  <c:v>-0.22845691382765532</c:v>
                </c:pt>
                <c:pt idx="93">
                  <c:v>-0.24458917835671345</c:v>
                </c:pt>
                <c:pt idx="94">
                  <c:v>-0.23932865731462916</c:v>
                </c:pt>
                <c:pt idx="95">
                  <c:v>-0.25135270541082155</c:v>
                </c:pt>
                <c:pt idx="96">
                  <c:v>-0.26357715430861717</c:v>
                </c:pt>
                <c:pt idx="97">
                  <c:v>-0.27560120240480956</c:v>
                </c:pt>
                <c:pt idx="98">
                  <c:v>-0.28562124248496989</c:v>
                </c:pt>
                <c:pt idx="99">
                  <c:v>-0.27660320641282565</c:v>
                </c:pt>
                <c:pt idx="100">
                  <c:v>-0.28486973947895788</c:v>
                </c:pt>
                <c:pt idx="101">
                  <c:v>-0.2869238476953907</c:v>
                </c:pt>
                <c:pt idx="102">
                  <c:v>-0.28106212424849697</c:v>
                </c:pt>
                <c:pt idx="103">
                  <c:v>-0.26412825651302607</c:v>
                </c:pt>
                <c:pt idx="104">
                  <c:v>-0.24328657314629265</c:v>
                </c:pt>
                <c:pt idx="105">
                  <c:v>-0.26603206412825653</c:v>
                </c:pt>
                <c:pt idx="106">
                  <c:v>-0.28406813627254501</c:v>
                </c:pt>
                <c:pt idx="107">
                  <c:v>-0.28181362725450898</c:v>
                </c:pt>
                <c:pt idx="108">
                  <c:v>-0.29854709418837677</c:v>
                </c:pt>
                <c:pt idx="109">
                  <c:v>-0.28932865731462931</c:v>
                </c:pt>
                <c:pt idx="110">
                  <c:v>-0.30170340681362728</c:v>
                </c:pt>
                <c:pt idx="111">
                  <c:v>-0.31497995991983974</c:v>
                </c:pt>
                <c:pt idx="112">
                  <c:v>-0.30781563126252509</c:v>
                </c:pt>
                <c:pt idx="113">
                  <c:v>-0.32875751503006012</c:v>
                </c:pt>
                <c:pt idx="114">
                  <c:v>-0.31117234468937871</c:v>
                </c:pt>
                <c:pt idx="115">
                  <c:v>-0.31948897795591169</c:v>
                </c:pt>
                <c:pt idx="116">
                  <c:v>-0.29008016032064132</c:v>
                </c:pt>
                <c:pt idx="117">
                  <c:v>-0.30260521042084176</c:v>
                </c:pt>
                <c:pt idx="118">
                  <c:v>-0.29849699398797591</c:v>
                </c:pt>
                <c:pt idx="119">
                  <c:v>-0.29559118236472948</c:v>
                </c:pt>
                <c:pt idx="120">
                  <c:v>-0.30776553106212434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165-E64B-AD7B-F171BEFC84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42205183"/>
        <c:axId val="1293543487"/>
      </c:lineChart>
      <c:dateAx>
        <c:axId val="1442205183"/>
        <c:scaling>
          <c:orientation val="minMax"/>
        </c:scaling>
        <c:delete val="0"/>
        <c:axPos val="b"/>
        <c:numFmt formatCode="yyyy\-mm\-dd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CN"/>
          </a:p>
        </c:txPr>
        <c:crossAx val="1293543487"/>
        <c:crosses val="autoZero"/>
        <c:auto val="1"/>
        <c:lblOffset val="100"/>
        <c:baseTimeUnit val="days"/>
      </c:dateAx>
      <c:valAx>
        <c:axId val="12935434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endParaRPr lang="zh-CN"/>
          </a:p>
        </c:txPr>
        <c:crossAx val="1442205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328388161174236"/>
          <c:y val="0.19477086738297519"/>
          <c:w val="0.17397285715016894"/>
          <c:h val="0.6916985106586701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pPr>
            <a:r>
              <a:rPr lang="zh-CN" altLang="en-US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中国医疗健康领域一级市场融资趋势</a:t>
            </a:r>
            <a:r>
              <a:rPr lang="en-US" altLang="zh-CN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股权融资</a:t>
            </a:r>
            <a:r>
              <a:rPr lang="en-US" altLang="zh-CN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+IPO)</a:t>
            </a:r>
            <a:endParaRPr lang="zh-CN" altLang="en-US" sz="1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defRPr>
          </a:pPr>
          <a:endParaRPr lang="zh-CN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'13-一级市场融资'!$B$24</c:f>
              <c:strCache>
                <c:ptCount val="1"/>
                <c:pt idx="0">
                  <c:v>融资事件数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F44-B343-9BB2-405F17F4D5B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'13-一级市场融资'!$A$25:$A$31</c:f>
              <c:strCach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2026Q1</c:v>
                </c:pt>
                <c:pt idx="6">
                  <c:v>2026E</c:v>
                </c:pt>
              </c:strCache>
            </c:strRef>
          </c:cat>
          <c:val>
            <c:numRef>
              <c:f>'13-一级市场融资'!$B$25:$B$31</c:f>
              <c:numCache>
                <c:formatCode>_(* #,##0_);_(* \(#,##0\);_(* "-"??_);_(@_)</c:formatCode>
                <c:ptCount val="7"/>
                <c:pt idx="0">
                  <c:v>2185</c:v>
                </c:pt>
                <c:pt idx="1">
                  <c:v>1857</c:v>
                </c:pt>
                <c:pt idx="2">
                  <c:v>1648</c:v>
                </c:pt>
                <c:pt idx="3">
                  <c:v>1489</c:v>
                </c:pt>
                <c:pt idx="4">
                  <c:v>1586</c:v>
                </c:pt>
                <c:pt idx="5">
                  <c:v>410</c:v>
                </c:pt>
                <c:pt idx="6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44-B343-9BB2-405F17F4D5B3}"/>
            </c:ext>
          </c:extLst>
        </c:ser>
        <c:ser>
          <c:idx val="1"/>
          <c:order val="1"/>
          <c:tx>
            <c:strRef>
              <c:f>'13-一级市场融资'!$C$24</c:f>
              <c:strCache>
                <c:ptCount val="1"/>
                <c:pt idx="0">
                  <c:v>融资总额(亿元)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F44-B343-9BB2-405F17F4D5B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'13-一级市场融资'!$A$25:$A$31</c:f>
              <c:strCach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2026Q1</c:v>
                </c:pt>
                <c:pt idx="6">
                  <c:v>2026E</c:v>
                </c:pt>
              </c:strCache>
            </c:strRef>
          </c:cat>
          <c:val>
            <c:numRef>
              <c:f>'13-一级市场融资'!$C$25:$C$31</c:f>
              <c:numCache>
                <c:formatCode>_(* #,##0_);_(* \(#,##0\);_(* "-"??_);_(@_)</c:formatCode>
                <c:ptCount val="7"/>
                <c:pt idx="0">
                  <c:v>2893</c:v>
                </c:pt>
                <c:pt idx="1">
                  <c:v>1460</c:v>
                </c:pt>
                <c:pt idx="2">
                  <c:v>954</c:v>
                </c:pt>
                <c:pt idx="3">
                  <c:v>799</c:v>
                </c:pt>
                <c:pt idx="4">
                  <c:v>893</c:v>
                </c:pt>
                <c:pt idx="5">
                  <c:v>354.6</c:v>
                </c:pt>
                <c:pt idx="6">
                  <c:v>1400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44-B343-9BB2-405F17F4D5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26189247"/>
        <c:axId val="1426187903"/>
      </c:barChart>
      <c:scatterChart>
        <c:scatterStyle val="lineMarker"/>
        <c:varyColors val="0"/>
        <c:ser>
          <c:idx val="2"/>
          <c:order val="2"/>
          <c:tx>
            <c:strRef>
              <c:f>'13-一级市场融资'!$D$24</c:f>
              <c:strCache>
                <c:ptCount val="1"/>
                <c:pt idx="0">
                  <c:v>平均融资额(亿/起)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2"/>
              <c:layout>
                <c:manualLayout>
                  <c:x val="-3.3498867390233694E-2"/>
                  <c:y val="-7.103512644749604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F44-B343-9BB2-405F17F4D5B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'13-一级市场融资'!$A$25:$A$31</c:f>
              <c:strCach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2026Q1</c:v>
                </c:pt>
                <c:pt idx="6">
                  <c:v>2026E</c:v>
                </c:pt>
              </c:strCache>
            </c:strRef>
          </c:xVal>
          <c:yVal>
            <c:numRef>
              <c:f>'13-一级市场融资'!$D$25:$D$31</c:f>
              <c:numCache>
                <c:formatCode>0.00</c:formatCode>
                <c:ptCount val="7"/>
                <c:pt idx="0">
                  <c:v>1.3240274599542334</c:v>
                </c:pt>
                <c:pt idx="1">
                  <c:v>0.78621432417878301</c:v>
                </c:pt>
                <c:pt idx="2">
                  <c:v>0.57888349514563109</c:v>
                </c:pt>
                <c:pt idx="3">
                  <c:v>0.53660174613834788</c:v>
                </c:pt>
                <c:pt idx="4">
                  <c:v>0.56305170239596469</c:v>
                </c:pt>
                <c:pt idx="5">
                  <c:v>0.86487804878048791</c:v>
                </c:pt>
                <c:pt idx="6">
                  <c:v>0.93333333333333335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F44-B343-9BB2-405F17F4D5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426675839"/>
        <c:axId val="1426685247"/>
      </c:scatterChart>
      <c:catAx>
        <c:axId val="14261892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26187903"/>
        <c:crosses val="autoZero"/>
        <c:auto val="1"/>
        <c:lblAlgn val="ctr"/>
        <c:lblOffset val="100"/>
        <c:noMultiLvlLbl val="0"/>
      </c:catAx>
      <c:valAx>
        <c:axId val="1426187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26189247"/>
        <c:crosses val="autoZero"/>
        <c:crossBetween val="between"/>
      </c:valAx>
      <c:valAx>
        <c:axId val="1426685247"/>
        <c:scaling>
          <c:orientation val="minMax"/>
          <c:max val="1.6"/>
        </c:scaling>
        <c:delete val="0"/>
        <c:axPos val="r"/>
        <c:numFmt formatCode="0.0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26675839"/>
        <c:crosses val="max"/>
        <c:crossBetween val="midCat"/>
      </c:valAx>
      <c:valAx>
        <c:axId val="1426675839"/>
        <c:scaling>
          <c:orientation val="minMax"/>
        </c:scaling>
        <c:delete val="1"/>
        <c:axPos val="b"/>
        <c:majorTickMark val="out"/>
        <c:minorTickMark val="none"/>
        <c:tickLblPos val="nextTo"/>
        <c:crossAx val="142668524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D429D-079D-9543-BEAC-AB8E19941671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ED3444-F6AD-4B45-A082-4F2A42EA11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巴士, 卡车, 大, 游戏机&#10;&#10;描述已自动生成"/>
          <p:cNvPicPr>
            <a:picLocks noChangeAspect="1"/>
          </p:cNvPicPr>
          <p:nvPr userDrawn="1"/>
        </p:nvPicPr>
        <p:blipFill>
          <a:blip r:embed="rId2"/>
          <a:srcRect r="7546" b="6764"/>
          <a:stretch>
            <a:fillRect/>
          </a:stretch>
        </p:blipFill>
        <p:spPr>
          <a:xfrm>
            <a:off x="5463655" y="69784"/>
            <a:ext cx="6728345" cy="6788216"/>
          </a:xfrm>
          <a:prstGeom prst="rect">
            <a:avLst/>
          </a:prstGeom>
        </p:spPr>
      </p:pic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3649" y="278078"/>
            <a:ext cx="1323326" cy="167121"/>
          </a:xfrm>
          <a:prstGeom prst="rect">
            <a:avLst/>
          </a:prstGeom>
        </p:spPr>
      </p:pic>
      <p:pic>
        <p:nvPicPr>
          <p:cNvPr id="12" name="图片 11" descr="图片包含 图形用户界面&#10;&#10;描述已自动生成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29854" y="278078"/>
            <a:ext cx="3240723" cy="4203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953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1760"/>
            <a:ext cx="12192000" cy="650874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81013" y="111760"/>
            <a:ext cx="7748587" cy="650874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kumimoji="1" lang="zh-CN" altLang="en-US" sz="3200" b="1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请在此处点击输入页面主标题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lum bright="100000"/>
          </a:blip>
          <a:stretch>
            <a:fillRect/>
          </a:stretch>
        </p:blipFill>
        <p:spPr>
          <a:xfrm>
            <a:off x="432561" y="296749"/>
            <a:ext cx="3192486" cy="4152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9ACFC-5ABC-0E49-8189-5D38E483D55B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28543-299B-5A4B-BED4-E49826FE79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9ACFC-5ABC-0E49-8189-5D38E483D55B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28543-299B-5A4B-BED4-E49826FE79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9ACFC-5ABC-0E49-8189-5D38E483D55B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28543-299B-5A4B-BED4-E49826FE79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9ACFC-5ABC-0E49-8189-5D38E483D55B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28543-299B-5A4B-BED4-E49826FE79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9ACFC-5ABC-0E49-8189-5D38E483D55B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28543-299B-5A4B-BED4-E49826FE79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9ACFC-5ABC-0E49-8189-5D38E483D55B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28543-299B-5A4B-BED4-E49826FE79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9ACFC-5ABC-0E49-8189-5D38E483D55B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28543-299B-5A4B-BED4-E49826FE79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9ACFC-5ABC-0E49-8189-5D38E483D55B}" type="datetimeFigureOut">
              <a:rPr kumimoji="1" lang="zh-CN" altLang="en-US" smtClean="0"/>
              <a:t>2026/7/10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28543-299B-5A4B-BED4-E49826FE79B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6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57875" y="1901187"/>
            <a:ext cx="34916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kumimoji="1" lang="zh-CN" altLang="en-US" sz="28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1" lang="en-US" altLang="zh-CN" sz="28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</a:p>
          <a:p>
            <a:r>
              <a:rPr kumimoji="1" lang="zh-CN" altLang="en-US" sz="28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宏观经济</a:t>
            </a:r>
            <a:r>
              <a:rPr kumimoji="1" lang="en-US" altLang="zh-CN" sz="28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kumimoji="1" lang="zh-CN" altLang="en-US" sz="28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行业政策</a:t>
            </a:r>
            <a:endParaRPr kumimoji="1" lang="en-US" altLang="zh-CN" sz="2800" b="1" dirty="0">
              <a:solidFill>
                <a:srgbClr val="005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altLang="zh-CN" sz="28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kumimoji="1" lang="zh-CN" altLang="en-US" sz="28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资本市场动态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7875" y="3926180"/>
            <a:ext cx="891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Barlow Light" pitchFamily="2" charset="0"/>
                <a:ea typeface="微软雅黑 Light" panose="020B0502040204020203" pitchFamily="34" charset="-122"/>
                <a:cs typeface="Source Han Sans K ExtraLight" charset="-127"/>
              </a:rPr>
              <a:t>2026.07</a:t>
            </a: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Barlow Light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43DAD-C6C2-CE5B-D2AA-F4C00B598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6D25A1E7-C8EA-C402-843B-70FEE09100DE}"/>
              </a:ext>
            </a:extLst>
          </p:cNvPr>
          <p:cNvSpPr txBox="1"/>
          <p:nvPr/>
        </p:nvSpPr>
        <p:spPr>
          <a:xfrm>
            <a:off x="387625" y="129869"/>
            <a:ext cx="10966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宏观经济概述</a:t>
            </a:r>
          </a:p>
        </p:txBody>
      </p:sp>
      <p:graphicFrame>
        <p:nvGraphicFramePr>
          <p:cNvPr id="19" name="图表 18">
            <a:extLst>
              <a:ext uri="{FF2B5EF4-FFF2-40B4-BE49-F238E27FC236}">
                <a16:creationId xmlns:a16="http://schemas.microsoft.com/office/drawing/2014/main" id="{93388675-8837-E44E-A404-F2267F7529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273639"/>
              </p:ext>
            </p:extLst>
          </p:nvPr>
        </p:nvGraphicFramePr>
        <p:xfrm>
          <a:off x="4109182" y="1763236"/>
          <a:ext cx="3602707" cy="2013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图表 20">
            <a:extLst>
              <a:ext uri="{FF2B5EF4-FFF2-40B4-BE49-F238E27FC236}">
                <a16:creationId xmlns:a16="http://schemas.microsoft.com/office/drawing/2014/main" id="{914EB883-9D51-EE86-0DAF-1A3BF2312E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5975281"/>
              </p:ext>
            </p:extLst>
          </p:nvPr>
        </p:nvGraphicFramePr>
        <p:xfrm>
          <a:off x="8013990" y="1734756"/>
          <a:ext cx="3464979" cy="2013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3BE5B1C1-ED58-82DC-271E-568D081FA547}"/>
              </a:ext>
            </a:extLst>
          </p:cNvPr>
          <p:cNvGrpSpPr/>
          <p:nvPr/>
        </p:nvGrpSpPr>
        <p:grpSpPr>
          <a:xfrm>
            <a:off x="443310" y="1176943"/>
            <a:ext cx="1704820" cy="538609"/>
            <a:chOff x="546466" y="1165142"/>
            <a:chExt cx="1704820" cy="538609"/>
          </a:xfrm>
        </p:grpSpPr>
        <p:sp>
          <p:nvSpPr>
            <p:cNvPr id="23" name="圆角矩形 22">
              <a:extLst>
                <a:ext uri="{FF2B5EF4-FFF2-40B4-BE49-F238E27FC236}">
                  <a16:creationId xmlns:a16="http://schemas.microsoft.com/office/drawing/2014/main" id="{4829ADDA-A257-D130-E9B0-D8ECADE12512}"/>
                </a:ext>
              </a:extLst>
            </p:cNvPr>
            <p:cNvSpPr/>
            <p:nvPr/>
          </p:nvSpPr>
          <p:spPr>
            <a:xfrm>
              <a:off x="546466" y="1176945"/>
              <a:ext cx="1677066" cy="492443"/>
            </a:xfrm>
            <a:prstGeom prst="roundRect">
              <a:avLst/>
            </a:prstGeom>
            <a:solidFill>
              <a:srgbClr val="C224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6418027A-8142-4161-91F4-9F19F8E5CE6F}"/>
                </a:ext>
              </a:extLst>
            </p:cNvPr>
            <p:cNvSpPr txBox="1"/>
            <p:nvPr/>
          </p:nvSpPr>
          <p:spPr>
            <a:xfrm>
              <a:off x="574220" y="1165142"/>
              <a:ext cx="1677066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2026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Q1</a:t>
              </a:r>
              <a:r>
                <a:rPr lang="zh-CN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中国GDP</a:t>
              </a:r>
            </a:p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5.0</a:t>
              </a:r>
              <a:r>
                <a:rPr lang="zh-CN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%</a:t>
              </a:r>
            </a:p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保持稳定，领跑</a:t>
              </a:r>
              <a:r>
                <a:rPr lang="zh-CN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主要经济体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0011C70-DE5D-E0E6-8727-FE528D526BB9}"/>
              </a:ext>
            </a:extLst>
          </p:cNvPr>
          <p:cNvGrpSpPr/>
          <p:nvPr/>
        </p:nvGrpSpPr>
        <p:grpSpPr>
          <a:xfrm>
            <a:off x="2257967" y="1192003"/>
            <a:ext cx="1677066" cy="538609"/>
            <a:chOff x="516007" y="853887"/>
            <a:chExt cx="1793439" cy="538609"/>
          </a:xfrm>
        </p:grpSpPr>
        <p:sp>
          <p:nvSpPr>
            <p:cNvPr id="32" name="圆角矩形 31">
              <a:extLst>
                <a:ext uri="{FF2B5EF4-FFF2-40B4-BE49-F238E27FC236}">
                  <a16:creationId xmlns:a16="http://schemas.microsoft.com/office/drawing/2014/main" id="{14E130DC-A221-5521-7CAB-E140E2B7EA3A}"/>
                </a:ext>
              </a:extLst>
            </p:cNvPr>
            <p:cNvSpPr/>
            <p:nvPr/>
          </p:nvSpPr>
          <p:spPr>
            <a:xfrm>
              <a:off x="516007" y="853887"/>
              <a:ext cx="1793439" cy="49244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8EECB3C5-D342-9B01-6DDD-5384C92C263A}"/>
                </a:ext>
              </a:extLst>
            </p:cNvPr>
            <p:cNvSpPr txBox="1"/>
            <p:nvPr/>
          </p:nvSpPr>
          <p:spPr>
            <a:xfrm>
              <a:off x="516007" y="853887"/>
              <a:ext cx="1793439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2026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Q1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美国</a:t>
              </a:r>
              <a:r>
                <a:rPr lang="zh-CN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GDP</a:t>
              </a:r>
            </a:p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2.1</a:t>
              </a:r>
              <a:r>
                <a:rPr lang="zh-CN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%</a:t>
              </a:r>
            </a:p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高位回落到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2022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年水平</a:t>
              </a:r>
              <a:endParaRPr lang="zh-CN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aphicFrame>
        <p:nvGraphicFramePr>
          <p:cNvPr id="38" name="图表 37">
            <a:extLst>
              <a:ext uri="{FF2B5EF4-FFF2-40B4-BE49-F238E27FC236}">
                <a16:creationId xmlns:a16="http://schemas.microsoft.com/office/drawing/2014/main" id="{E429C334-D1FE-B815-BAEA-46D53AD8DD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4507710"/>
              </p:ext>
            </p:extLst>
          </p:nvPr>
        </p:nvGraphicFramePr>
        <p:xfrm>
          <a:off x="480552" y="1734756"/>
          <a:ext cx="3515699" cy="2013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2" name="圆角矩形 41">
            <a:extLst>
              <a:ext uri="{FF2B5EF4-FFF2-40B4-BE49-F238E27FC236}">
                <a16:creationId xmlns:a16="http://schemas.microsoft.com/office/drawing/2014/main" id="{C7A958C7-73D2-DBAC-94F9-63C27579F334}"/>
              </a:ext>
            </a:extLst>
          </p:cNvPr>
          <p:cNvSpPr/>
          <p:nvPr/>
        </p:nvSpPr>
        <p:spPr>
          <a:xfrm>
            <a:off x="8013991" y="1196180"/>
            <a:ext cx="1677066" cy="492443"/>
          </a:xfrm>
          <a:prstGeom prst="roundRect">
            <a:avLst/>
          </a:prstGeom>
          <a:solidFill>
            <a:srgbClr val="135D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FFFF00"/>
              </a:highlight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0508B58-9B35-A7C0-6FBA-25874B36035B}"/>
              </a:ext>
            </a:extLst>
          </p:cNvPr>
          <p:cNvGrpSpPr/>
          <p:nvPr/>
        </p:nvGrpSpPr>
        <p:grpSpPr>
          <a:xfrm>
            <a:off x="4193231" y="1184377"/>
            <a:ext cx="1706802" cy="538609"/>
            <a:chOff x="4383478" y="1184377"/>
            <a:chExt cx="1706802" cy="538609"/>
          </a:xfrm>
        </p:grpSpPr>
        <p:sp>
          <p:nvSpPr>
            <p:cNvPr id="40" name="圆角矩形 39">
              <a:extLst>
                <a:ext uri="{FF2B5EF4-FFF2-40B4-BE49-F238E27FC236}">
                  <a16:creationId xmlns:a16="http://schemas.microsoft.com/office/drawing/2014/main" id="{25A98640-3831-D791-B743-45B3E3897C6F}"/>
                </a:ext>
              </a:extLst>
            </p:cNvPr>
            <p:cNvSpPr/>
            <p:nvPr/>
          </p:nvSpPr>
          <p:spPr>
            <a:xfrm>
              <a:off x="4413214" y="1188746"/>
              <a:ext cx="1677066" cy="492443"/>
            </a:xfrm>
            <a:prstGeom prst="roundRect">
              <a:avLst/>
            </a:prstGeom>
            <a:solidFill>
              <a:srgbClr val="E958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A736F506-FCB2-87F2-2024-1CF1BE3A530D}"/>
                </a:ext>
              </a:extLst>
            </p:cNvPr>
            <p:cNvSpPr txBox="1"/>
            <p:nvPr/>
          </p:nvSpPr>
          <p:spPr>
            <a:xfrm>
              <a:off x="4383478" y="1184377"/>
              <a:ext cx="1677066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美联储利率</a:t>
              </a:r>
              <a:endParaRPr lang="zh-CN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3.75</a:t>
              </a:r>
              <a:r>
                <a:rPr lang="zh-CN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%</a:t>
              </a:r>
            </a:p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结束降息周期，保持稳定</a:t>
              </a:r>
              <a:endParaRPr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F73DC4-BB16-9CA6-9735-04C5BBC98D0A}"/>
              </a:ext>
            </a:extLst>
          </p:cNvPr>
          <p:cNvGrpSpPr/>
          <p:nvPr/>
        </p:nvGrpSpPr>
        <p:grpSpPr>
          <a:xfrm>
            <a:off x="6009870" y="1176943"/>
            <a:ext cx="1702019" cy="538609"/>
            <a:chOff x="6201126" y="1176945"/>
            <a:chExt cx="1702019" cy="538609"/>
          </a:xfrm>
        </p:grpSpPr>
        <p:sp>
          <p:nvSpPr>
            <p:cNvPr id="41" name="圆角矩形 40">
              <a:extLst>
                <a:ext uri="{FF2B5EF4-FFF2-40B4-BE49-F238E27FC236}">
                  <a16:creationId xmlns:a16="http://schemas.microsoft.com/office/drawing/2014/main" id="{6E73BF8D-ED0E-AF14-5DAB-7576070A421C}"/>
                </a:ext>
              </a:extLst>
            </p:cNvPr>
            <p:cNvSpPr/>
            <p:nvPr/>
          </p:nvSpPr>
          <p:spPr>
            <a:xfrm>
              <a:off x="6201126" y="1196180"/>
              <a:ext cx="1677066" cy="492443"/>
            </a:xfrm>
            <a:prstGeom prst="roundRect">
              <a:avLst/>
            </a:prstGeom>
            <a:solidFill>
              <a:srgbClr val="2A76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B4D28C2B-62D9-1887-9C43-B54788EACF2B}"/>
                </a:ext>
              </a:extLst>
            </p:cNvPr>
            <p:cNvSpPr txBox="1"/>
            <p:nvPr/>
          </p:nvSpPr>
          <p:spPr>
            <a:xfrm>
              <a:off x="6226079" y="1176945"/>
              <a:ext cx="1677066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中国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1YLPR</a:t>
              </a:r>
            </a:p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3.00</a:t>
              </a:r>
              <a:r>
                <a:rPr lang="zh-CN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%</a:t>
              </a:r>
            </a:p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稳步下调，保持稳定</a:t>
              </a:r>
              <a:endParaRPr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C35ED14A-D600-9E7B-621A-847AF8F2D2FE}"/>
              </a:ext>
            </a:extLst>
          </p:cNvPr>
          <p:cNvSpPr txBox="1"/>
          <p:nvPr/>
        </p:nvSpPr>
        <p:spPr>
          <a:xfrm>
            <a:off x="7989038" y="1176943"/>
            <a:ext cx="167706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2026Q1</a:t>
            </a:r>
            <a:r>
              <a:rPr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中国进口同比</a:t>
            </a:r>
            <a:endParaRPr lang="en-US" altLang="zh-CN" sz="9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+19.6</a:t>
            </a:r>
            <a:r>
              <a:rPr lang="zh-CN" altLang="zh-CN" sz="11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%</a:t>
            </a:r>
            <a:endParaRPr lang="zh-CN" altLang="en-US" sz="11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较</a:t>
            </a:r>
            <a:r>
              <a:rPr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0.5%</a:t>
            </a:r>
            <a:r>
              <a:rPr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有显著提升</a:t>
            </a:r>
            <a:endParaRPr lang="en-US" altLang="zh-CN" sz="9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4BC1ED9-C62F-E13B-E095-6450B2CAE0ED}"/>
              </a:ext>
            </a:extLst>
          </p:cNvPr>
          <p:cNvGrpSpPr/>
          <p:nvPr/>
        </p:nvGrpSpPr>
        <p:grpSpPr>
          <a:xfrm>
            <a:off x="9786726" y="1192003"/>
            <a:ext cx="1726972" cy="538609"/>
            <a:chOff x="9751997" y="1203614"/>
            <a:chExt cx="1726972" cy="538609"/>
          </a:xfrm>
        </p:grpSpPr>
        <p:sp>
          <p:nvSpPr>
            <p:cNvPr id="43" name="圆角矩形 42">
              <a:extLst>
                <a:ext uri="{FF2B5EF4-FFF2-40B4-BE49-F238E27FC236}">
                  <a16:creationId xmlns:a16="http://schemas.microsoft.com/office/drawing/2014/main" id="{E1109EA4-AF60-A3EB-44E3-8470EACEF13E}"/>
                </a:ext>
              </a:extLst>
            </p:cNvPr>
            <p:cNvSpPr/>
            <p:nvPr/>
          </p:nvSpPr>
          <p:spPr>
            <a:xfrm>
              <a:off x="9801903" y="1203614"/>
              <a:ext cx="1677066" cy="492443"/>
            </a:xfrm>
            <a:prstGeom prst="roundRect">
              <a:avLst/>
            </a:prstGeom>
            <a:solidFill>
              <a:srgbClr val="E958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B67A6BF7-11D1-8374-74D7-D7C153F1E66F}"/>
                </a:ext>
              </a:extLst>
            </p:cNvPr>
            <p:cNvSpPr txBox="1"/>
            <p:nvPr/>
          </p:nvSpPr>
          <p:spPr>
            <a:xfrm>
              <a:off x="9751997" y="1203614"/>
              <a:ext cx="1677066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2026Q1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中国出口同比</a:t>
              </a:r>
              <a:endParaRPr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+11.9</a:t>
              </a:r>
              <a:r>
                <a:rPr lang="zh-CN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%</a:t>
              </a:r>
              <a:endParaRPr lang="zh-CN" altLang="en-US" sz="11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延续增长趋势</a:t>
              </a:r>
              <a:endParaRPr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A6A2D3EF-4E52-690C-BEC0-8D22314E77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259910"/>
              </p:ext>
            </p:extLst>
          </p:nvPr>
        </p:nvGraphicFramePr>
        <p:xfrm>
          <a:off x="480554" y="4383467"/>
          <a:ext cx="7129216" cy="1161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959">
                  <a:extLst>
                    <a:ext uri="{9D8B030D-6E8A-4147-A177-3AD203B41FA5}">
                      <a16:colId xmlns:a16="http://schemas.microsoft.com/office/drawing/2014/main" val="1762063232"/>
                    </a:ext>
                  </a:extLst>
                </a:gridCol>
                <a:gridCol w="1017032">
                  <a:extLst>
                    <a:ext uri="{9D8B030D-6E8A-4147-A177-3AD203B41FA5}">
                      <a16:colId xmlns:a16="http://schemas.microsoft.com/office/drawing/2014/main" val="1288481915"/>
                    </a:ext>
                  </a:extLst>
                </a:gridCol>
                <a:gridCol w="1153042">
                  <a:extLst>
                    <a:ext uri="{9D8B030D-6E8A-4147-A177-3AD203B41FA5}">
                      <a16:colId xmlns:a16="http://schemas.microsoft.com/office/drawing/2014/main" val="1903050906"/>
                    </a:ext>
                  </a:extLst>
                </a:gridCol>
                <a:gridCol w="1133500">
                  <a:extLst>
                    <a:ext uri="{9D8B030D-6E8A-4147-A177-3AD203B41FA5}">
                      <a16:colId xmlns:a16="http://schemas.microsoft.com/office/drawing/2014/main" val="3067728647"/>
                    </a:ext>
                  </a:extLst>
                </a:gridCol>
                <a:gridCol w="1055327">
                  <a:extLst>
                    <a:ext uri="{9D8B030D-6E8A-4147-A177-3AD203B41FA5}">
                      <a16:colId xmlns:a16="http://schemas.microsoft.com/office/drawing/2014/main" val="3098639821"/>
                    </a:ext>
                  </a:extLst>
                </a:gridCol>
                <a:gridCol w="1182356">
                  <a:extLst>
                    <a:ext uri="{9D8B030D-6E8A-4147-A177-3AD203B41FA5}">
                      <a16:colId xmlns:a16="http://schemas.microsoft.com/office/drawing/2014/main" val="1459165164"/>
                    </a:ext>
                  </a:extLst>
                </a:gridCol>
              </a:tblGrid>
              <a:tr h="1921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指标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2026Q1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23199627"/>
                  </a:ext>
                </a:extLst>
              </a:tr>
              <a:tr h="1710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进出口总额(万亿元)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42.1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41.8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43.8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45.5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9445192"/>
                  </a:ext>
                </a:extLst>
              </a:tr>
              <a:tr h="1710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贸易顺差(万亿美元)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</a:t>
                      </a:r>
                      <a:r>
                        <a:rPr lang="en-US" altLang="zh-CN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lang="zh-CN" sz="800" b="0" i="0" u="none" strike="noStrike" dirty="0">
                        <a:solidFill>
                          <a:srgbClr val="C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0.2</a:t>
                      </a:r>
                      <a:endParaRPr lang="zh-CN" sz="800" b="0" i="0" u="none" strike="noStrike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85619701"/>
                  </a:ext>
                </a:extLst>
              </a:tr>
              <a:tr h="14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CPI同比涨幅(%)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14613841"/>
                  </a:ext>
                </a:extLst>
              </a:tr>
              <a:tr h="14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PPI同比涨幅(%)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-3.0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-2.2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-2.4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2A76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-0.6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5847108"/>
                  </a:ext>
                </a:extLst>
              </a:tr>
              <a:tr h="1710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固定资产投资增速(%)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-2.6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58187258"/>
                  </a:ext>
                </a:extLst>
              </a:tr>
              <a:tr h="1710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社会消费品零售增速(%)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-0.2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9392006"/>
                  </a:ext>
                </a:extLst>
              </a:tr>
            </a:tbl>
          </a:graphicData>
        </a:graphic>
      </p:graphicFrame>
      <p:sp>
        <p:nvSpPr>
          <p:cNvPr id="53" name="文本框 52">
            <a:extLst>
              <a:ext uri="{FF2B5EF4-FFF2-40B4-BE49-F238E27FC236}">
                <a16:creationId xmlns:a16="http://schemas.microsoft.com/office/drawing/2014/main" id="{D196237F-AAF8-CDAE-7E84-49540FCE796C}"/>
              </a:ext>
            </a:extLst>
          </p:cNvPr>
          <p:cNvSpPr txBox="1"/>
          <p:nvPr/>
        </p:nvSpPr>
        <p:spPr>
          <a:xfrm>
            <a:off x="387625" y="3963825"/>
            <a:ext cx="589594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出口韧性突出，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2025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年贸易顺差约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1.2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万亿美元，</a:t>
            </a:r>
            <a:r>
              <a:rPr kumimoji="1" lang="zh-CN" altLang="en-US" sz="105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创历史新高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；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PPI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回调至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-0.6%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2026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年有望回正；</a:t>
            </a:r>
            <a:endParaRPr kumimoji="1" lang="en-US" altLang="zh-CN" sz="1050" dirty="0">
              <a:solidFill>
                <a:srgbClr val="5A5A5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/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国内投资较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2025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-2.6%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有所回升；社零持续疲软，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2026Q1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同比增长仅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2.4%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kumimoji="1" lang="en-US" altLang="zh-CN" sz="1050" dirty="0">
              <a:solidFill>
                <a:srgbClr val="5A5A5A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Source Han Sans K Light" charset="-127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280B9C2-D96A-7DFE-2800-C0C89AEEFA8A}"/>
              </a:ext>
            </a:extLst>
          </p:cNvPr>
          <p:cNvSpPr txBox="1"/>
          <p:nvPr/>
        </p:nvSpPr>
        <p:spPr>
          <a:xfrm>
            <a:off x="387625" y="3765838"/>
            <a:ext cx="1624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中国经济核心指标</a:t>
            </a:r>
            <a:endParaRPr kumimoji="1" lang="zh-CN" altLang="en-US" sz="1200" dirty="0">
              <a:solidFill>
                <a:srgbClr val="0050A0"/>
              </a:solidFill>
            </a:endParaRPr>
          </a:p>
        </p:txBody>
      </p:sp>
      <p:graphicFrame>
        <p:nvGraphicFramePr>
          <p:cNvPr id="55" name="图表 54">
            <a:extLst>
              <a:ext uri="{FF2B5EF4-FFF2-40B4-BE49-F238E27FC236}">
                <a16:creationId xmlns:a16="http://schemas.microsoft.com/office/drawing/2014/main" id="{63A0295E-A226-9F04-8B96-284C80FFDB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1978418"/>
              </p:ext>
            </p:extLst>
          </p:nvPr>
        </p:nvGraphicFramePr>
        <p:xfrm>
          <a:off x="7989038" y="3855807"/>
          <a:ext cx="3558760" cy="1688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89A1C829-E1FC-C104-7F95-BD90D82EBA83}"/>
              </a:ext>
            </a:extLst>
          </p:cNvPr>
          <p:cNvSpPr txBox="1"/>
          <p:nvPr/>
        </p:nvSpPr>
        <p:spPr>
          <a:xfrm>
            <a:off x="402492" y="5707630"/>
            <a:ext cx="4010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中美博弈关键节点</a:t>
            </a:r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2025.1-2026H1</a:t>
            </a:r>
            <a:endParaRPr kumimoji="1" lang="zh-CN" altLang="en-US" sz="1200" dirty="0">
              <a:solidFill>
                <a:srgbClr val="0050A0"/>
              </a:solidFill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275702DB-5FE1-BB3E-2C9E-14FF00728D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491" y="6032311"/>
            <a:ext cx="11558215" cy="481160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A06C1957-CCC6-839D-8C77-04C1244994CD}"/>
              </a:ext>
            </a:extLst>
          </p:cNvPr>
          <p:cNvSpPr txBox="1"/>
          <p:nvPr/>
        </p:nvSpPr>
        <p:spPr>
          <a:xfrm>
            <a:off x="369631" y="840383"/>
            <a:ext cx="1881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全球宏观经济核心指标</a:t>
            </a:r>
            <a:endParaRPr kumimoji="1" lang="zh-CN" altLang="en-US" sz="1200" dirty="0">
              <a:solidFill>
                <a:srgbClr val="0050A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CE22CE-A783-984A-EB4E-BFD151ABD927}"/>
              </a:ext>
            </a:extLst>
          </p:cNvPr>
          <p:cNvSpPr txBox="1"/>
          <p:nvPr/>
        </p:nvSpPr>
        <p:spPr>
          <a:xfrm>
            <a:off x="387625" y="6513471"/>
            <a:ext cx="37475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数据来源：国家统计局、海关总署、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IMF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国际国币基金组织</a:t>
            </a:r>
            <a:endParaRPr kumimoji="1" lang="en-US" altLang="zh-CN" sz="1050" dirty="0">
              <a:solidFill>
                <a:srgbClr val="5A5A5A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Source Han Sans K Light" charset="-127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A56F5A3-85D4-665E-8658-637D4E827A64}"/>
              </a:ext>
            </a:extLst>
          </p:cNvPr>
          <p:cNvSpPr/>
          <p:nvPr/>
        </p:nvSpPr>
        <p:spPr>
          <a:xfrm>
            <a:off x="471064" y="1786916"/>
            <a:ext cx="3525187" cy="1930392"/>
          </a:xfrm>
          <a:prstGeom prst="roundRect">
            <a:avLst/>
          </a:prstGeom>
          <a:noFill/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1A13B53-F59C-F057-1E4D-9F5FE16D63CB}"/>
              </a:ext>
            </a:extLst>
          </p:cNvPr>
          <p:cNvSpPr/>
          <p:nvPr/>
        </p:nvSpPr>
        <p:spPr>
          <a:xfrm>
            <a:off x="4067507" y="1806152"/>
            <a:ext cx="3708939" cy="1930392"/>
          </a:xfrm>
          <a:prstGeom prst="roundRect">
            <a:avLst/>
          </a:prstGeom>
          <a:noFill/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121E21D-66A6-F46A-069B-27FE1021B141}"/>
              </a:ext>
            </a:extLst>
          </p:cNvPr>
          <p:cNvSpPr/>
          <p:nvPr/>
        </p:nvSpPr>
        <p:spPr>
          <a:xfrm>
            <a:off x="7847702" y="1804819"/>
            <a:ext cx="3708939" cy="1930392"/>
          </a:xfrm>
          <a:prstGeom prst="roundRect">
            <a:avLst/>
          </a:prstGeom>
          <a:noFill/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9DB65C81-03E5-F3DB-914F-2F67226E270F}"/>
              </a:ext>
            </a:extLst>
          </p:cNvPr>
          <p:cNvSpPr/>
          <p:nvPr/>
        </p:nvSpPr>
        <p:spPr>
          <a:xfrm>
            <a:off x="7847701" y="3956333"/>
            <a:ext cx="3708939" cy="1588350"/>
          </a:xfrm>
          <a:prstGeom prst="roundRect">
            <a:avLst/>
          </a:prstGeom>
          <a:noFill/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8535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4D15F-D0FC-4544-856A-EF595D4B5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3AB49496-29A6-B4A4-27CF-5EC8A85B77C1}"/>
              </a:ext>
            </a:extLst>
          </p:cNvPr>
          <p:cNvSpPr txBox="1"/>
          <p:nvPr/>
        </p:nvSpPr>
        <p:spPr>
          <a:xfrm>
            <a:off x="387625" y="129869"/>
            <a:ext cx="10966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医疗行业重大政策及影响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067EF6F-C69C-3775-028F-D9326D43C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812132"/>
              </p:ext>
            </p:extLst>
          </p:nvPr>
        </p:nvGraphicFramePr>
        <p:xfrm>
          <a:off x="573695" y="5033259"/>
          <a:ext cx="6777372" cy="135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858">
                  <a:extLst>
                    <a:ext uri="{9D8B030D-6E8A-4147-A177-3AD203B41FA5}">
                      <a16:colId xmlns:a16="http://schemas.microsoft.com/office/drawing/2014/main" val="1624614719"/>
                    </a:ext>
                  </a:extLst>
                </a:gridCol>
                <a:gridCol w="992193">
                  <a:extLst>
                    <a:ext uri="{9D8B030D-6E8A-4147-A177-3AD203B41FA5}">
                      <a16:colId xmlns:a16="http://schemas.microsoft.com/office/drawing/2014/main" val="1079069709"/>
                    </a:ext>
                  </a:extLst>
                </a:gridCol>
                <a:gridCol w="1188103">
                  <a:extLst>
                    <a:ext uri="{9D8B030D-6E8A-4147-A177-3AD203B41FA5}">
                      <a16:colId xmlns:a16="http://schemas.microsoft.com/office/drawing/2014/main" val="979753568"/>
                    </a:ext>
                  </a:extLst>
                </a:gridCol>
                <a:gridCol w="1539093">
                  <a:extLst>
                    <a:ext uri="{9D8B030D-6E8A-4147-A177-3AD203B41FA5}">
                      <a16:colId xmlns:a16="http://schemas.microsoft.com/office/drawing/2014/main" val="3996882294"/>
                    </a:ext>
                  </a:extLst>
                </a:gridCol>
                <a:gridCol w="982563">
                  <a:extLst>
                    <a:ext uri="{9D8B030D-6E8A-4147-A177-3AD203B41FA5}">
                      <a16:colId xmlns:a16="http://schemas.microsoft.com/office/drawing/2014/main" val="3237387350"/>
                    </a:ext>
                  </a:extLst>
                </a:gridCol>
                <a:gridCol w="1129562">
                  <a:extLst>
                    <a:ext uri="{9D8B030D-6E8A-4147-A177-3AD203B41FA5}">
                      <a16:colId xmlns:a16="http://schemas.microsoft.com/office/drawing/2014/main" val="1589529926"/>
                    </a:ext>
                  </a:extLst>
                </a:gridCol>
              </a:tblGrid>
              <a:tr h="29769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类别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最新批次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时间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品种/规模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降幅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状态</a:t>
                      </a:r>
                    </a:p>
                  </a:txBody>
                  <a:tcPr marL="38100" marR="38100" marT="28575" marB="28575" anchor="ctr"/>
                </a:tc>
                <a:extLst>
                  <a:ext uri="{0D108BD9-81ED-4DB2-BD59-A6C34878D82A}">
                    <a16:rowId xmlns:a16="http://schemas.microsoft.com/office/drawing/2014/main" val="3298706342"/>
                  </a:ext>
                </a:extLst>
              </a:tr>
              <a:tr h="25361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1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药品国采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第12批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2026.6启动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65种·肿瘤+慢性病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预计40-60%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报量中</a:t>
                      </a:r>
                    </a:p>
                  </a:txBody>
                  <a:tcPr marL="38100" marR="38100" marT="28575" marB="28575" anchor="ctr"/>
                </a:tc>
                <a:extLst>
                  <a:ext uri="{0D108BD9-81ED-4DB2-BD59-A6C34878D82A}">
                    <a16:rowId xmlns:a16="http://schemas.microsoft.com/office/drawing/2014/main" val="85893961"/>
                  </a:ext>
                </a:extLst>
              </a:tr>
              <a:tr h="25361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1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中成药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第4批联盟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2026.1</a:t>
                      </a:r>
                      <a:r>
                        <a:rPr lang="zh-CN" altLang="en-US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启动</a:t>
                      </a:r>
                      <a:endParaRPr lang="zh-CN" sz="800" b="0" i="0" dirty="0">
                        <a:solidFill>
                          <a:srgbClr val="1A1A2E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28组90产品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待公布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沟通中</a:t>
                      </a:r>
                    </a:p>
                  </a:txBody>
                  <a:tcPr marL="38100" marR="38100" marT="28575" marB="28575" anchor="ctr"/>
                </a:tc>
                <a:extLst>
                  <a:ext uri="{0D108BD9-81ED-4DB2-BD59-A6C34878D82A}">
                    <a16:rowId xmlns:a16="http://schemas.microsoft.com/office/drawing/2014/main" val="1870960632"/>
                  </a:ext>
                </a:extLst>
              </a:tr>
              <a:tr h="25361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1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高值耗材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第6批国采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2026.1开标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12种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altLang="zh-CN" sz="8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~45%</a:t>
                      </a:r>
                      <a:endParaRPr lang="zh-CN" sz="800" b="0" i="0" dirty="0">
                        <a:solidFill>
                          <a:srgbClr val="C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2026.5落地</a:t>
                      </a:r>
                    </a:p>
                  </a:txBody>
                  <a:tcPr marL="38100" marR="38100" marT="28575" marB="28575" anchor="ctr"/>
                </a:tc>
                <a:extLst>
                  <a:ext uri="{0D108BD9-81ED-4DB2-BD59-A6C34878D82A}">
                    <a16:rowId xmlns:a16="http://schemas.microsoft.com/office/drawing/2014/main" val="2017705615"/>
                  </a:ext>
                </a:extLst>
              </a:tr>
              <a:tr h="2795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1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IVD试剂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28省联盟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2026.3落地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肿标+甲功化学发光25项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52.6%</a:t>
                      </a:r>
                      <a:r>
                        <a:rPr lang="en-US" altLang="zh-CN" sz="8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~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84%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执行中</a:t>
                      </a:r>
                    </a:p>
                  </a:txBody>
                  <a:tcPr marL="38100" marR="38100" marT="28575" marB="28575" anchor="ctr"/>
                </a:tc>
                <a:extLst>
                  <a:ext uri="{0D108BD9-81ED-4DB2-BD59-A6C34878D82A}">
                    <a16:rowId xmlns:a16="http://schemas.microsoft.com/office/drawing/2014/main" val="353980830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6948BC1D-BFC1-C198-8ECD-6DAC216B7E0B}"/>
              </a:ext>
            </a:extLst>
          </p:cNvPr>
          <p:cNvSpPr txBox="1"/>
          <p:nvPr/>
        </p:nvSpPr>
        <p:spPr>
          <a:xfrm>
            <a:off x="465634" y="4472954"/>
            <a:ext cx="382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全国集采最新动态</a:t>
            </a:r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企业利润承压，国产替代加速。</a:t>
            </a:r>
            <a:endParaRPr kumimoji="1" lang="zh-CN" altLang="en-US" sz="1200" dirty="0">
              <a:solidFill>
                <a:srgbClr val="0050A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84D41E-DF8C-C51D-34FF-9B08F887ED0A}"/>
              </a:ext>
            </a:extLst>
          </p:cNvPr>
          <p:cNvSpPr txBox="1"/>
          <p:nvPr/>
        </p:nvSpPr>
        <p:spPr>
          <a:xfrm>
            <a:off x="465634" y="1617340"/>
            <a:ext cx="5913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医疗行业政策整体趋势</a:t>
            </a:r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–IVD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、三方检验机构收入承压，合规加码</a:t>
            </a:r>
            <a:endParaRPr kumimoji="1" lang="zh-CN" altLang="en-US" sz="1200" dirty="0">
              <a:solidFill>
                <a:srgbClr val="0050A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A11862-0CC2-6DFC-F9B6-A0431AC5B035}"/>
              </a:ext>
            </a:extLst>
          </p:cNvPr>
          <p:cNvSpPr txBox="1"/>
          <p:nvPr/>
        </p:nvSpPr>
        <p:spPr>
          <a:xfrm>
            <a:off x="521638" y="4749953"/>
            <a:ext cx="57355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涉及药品、高值耗材、</a:t>
            </a:r>
            <a:r>
              <a:rPr kumimoji="1" lang="en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IVD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产品。头部规模企业消化降价影响，中小企业逐步出清。</a:t>
            </a:r>
            <a:endParaRPr kumimoji="1" lang="en-US" altLang="zh-CN" sz="1050" dirty="0">
              <a:solidFill>
                <a:srgbClr val="5A5A5A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Source Han Sans K Light" charset="-127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120E46E-B32A-78B3-41FD-308B0AB5D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804226"/>
              </p:ext>
            </p:extLst>
          </p:nvPr>
        </p:nvGraphicFramePr>
        <p:xfrm>
          <a:off x="573695" y="2340690"/>
          <a:ext cx="6777372" cy="1962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3751">
                  <a:extLst>
                    <a:ext uri="{9D8B030D-6E8A-4147-A177-3AD203B41FA5}">
                      <a16:colId xmlns:a16="http://schemas.microsoft.com/office/drawing/2014/main" val="4292576911"/>
                    </a:ext>
                  </a:extLst>
                </a:gridCol>
                <a:gridCol w="1868138">
                  <a:extLst>
                    <a:ext uri="{9D8B030D-6E8A-4147-A177-3AD203B41FA5}">
                      <a16:colId xmlns:a16="http://schemas.microsoft.com/office/drawing/2014/main" val="3839187465"/>
                    </a:ext>
                  </a:extLst>
                </a:gridCol>
                <a:gridCol w="2251140">
                  <a:extLst>
                    <a:ext uri="{9D8B030D-6E8A-4147-A177-3AD203B41FA5}">
                      <a16:colId xmlns:a16="http://schemas.microsoft.com/office/drawing/2014/main" val="1454066848"/>
                    </a:ext>
                  </a:extLst>
                </a:gridCol>
                <a:gridCol w="1694343">
                  <a:extLst>
                    <a:ext uri="{9D8B030D-6E8A-4147-A177-3AD203B41FA5}">
                      <a16:colId xmlns:a16="http://schemas.microsoft.com/office/drawing/2014/main" val="2712907765"/>
                    </a:ext>
                  </a:extLst>
                </a:gridCol>
              </a:tblGrid>
              <a:tr h="32715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政策维度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对市场的影响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对企业的影响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8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典型案例/数据</a:t>
                      </a:r>
                    </a:p>
                  </a:txBody>
                  <a:tcPr marL="38100" marR="38100" marT="28575" marB="28575" anchor="ctr"/>
                </a:tc>
                <a:extLst>
                  <a:ext uri="{0D108BD9-81ED-4DB2-BD59-A6C34878D82A}">
                    <a16:rowId xmlns:a16="http://schemas.microsoft.com/office/drawing/2014/main" val="3982334222"/>
                  </a:ext>
                </a:extLst>
              </a:tr>
              <a:tr h="327152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1" i="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DRG/DIP2.0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检验科由"利润中心"转"成本中心"，主动控量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外包检验降价，</a:t>
                      </a:r>
                      <a:r>
                        <a:rPr lang="zh-CN" sz="8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第三方检验机构承压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altLang="en-US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全国</a:t>
                      </a: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71%三级医院落地</a:t>
                      </a:r>
                    </a:p>
                  </a:txBody>
                  <a:tcPr marL="38100" marR="38100" marT="28575" marB="28575" anchor="ctr"/>
                </a:tc>
                <a:extLst>
                  <a:ext uri="{0D108BD9-81ED-4DB2-BD59-A6C34878D82A}">
                    <a16:rowId xmlns:a16="http://schemas.microsoft.com/office/drawing/2014/main" val="123710242"/>
                  </a:ext>
                </a:extLst>
              </a:tr>
              <a:tr h="327152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1" i="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院外送检整治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第三方失去"楼道收费"渠道，高值基因检测外送受限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第三方检测收入下降，合规成本上升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14部委点名</a:t>
                      </a:r>
                      <a:r>
                        <a:rPr lang="zh-CN" sz="8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外送基因检测重点整治</a:t>
                      </a:r>
                    </a:p>
                  </a:txBody>
                  <a:tcPr marL="38100" marR="38100" marT="28575" marB="28575" anchor="ctr"/>
                </a:tc>
                <a:extLst>
                  <a:ext uri="{0D108BD9-81ED-4DB2-BD59-A6C34878D82A}">
                    <a16:rowId xmlns:a16="http://schemas.microsoft.com/office/drawing/2014/main" val="3362598188"/>
                  </a:ext>
                </a:extLst>
              </a:tr>
              <a:tr h="327152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1" i="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检验结果互认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检验量"减量"趋势明确，重复检验减少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试剂耗材需求增速放缓，转向高附加值产品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2025底医联体内全互认</a:t>
                      </a:r>
                      <a:r>
                        <a:rPr lang="zh-CN" altLang="en-US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，目标</a:t>
                      </a: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2027全国互通</a:t>
                      </a:r>
                    </a:p>
                  </a:txBody>
                  <a:tcPr marL="38100" marR="38100" marT="28575" marB="28575" anchor="ctr"/>
                </a:tc>
                <a:extLst>
                  <a:ext uri="{0D108BD9-81ED-4DB2-BD59-A6C34878D82A}">
                    <a16:rowId xmlns:a16="http://schemas.microsoft.com/office/drawing/2014/main" val="817848862"/>
                  </a:ext>
                </a:extLst>
              </a:tr>
              <a:tr h="327152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1" i="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医保飞检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合规成生命线，违规成本大幅上升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检验科成飞检重灾区，需</a:t>
                      </a:r>
                      <a:r>
                        <a:rPr lang="zh-CN" sz="8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加强合规投入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内蒙某医院82项违规涉3466万元被通报</a:t>
                      </a:r>
                    </a:p>
                  </a:txBody>
                  <a:tcPr marL="38100" marR="38100" marT="28575" marB="28575" anchor="ctr"/>
                </a:tc>
                <a:extLst>
                  <a:ext uri="{0D108BD9-81ED-4DB2-BD59-A6C34878D82A}">
                    <a16:rowId xmlns:a16="http://schemas.microsoft.com/office/drawing/2014/main" val="1691033903"/>
                  </a:ext>
                </a:extLst>
              </a:tr>
              <a:tr h="327152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1" i="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818号令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基因/细胞治疗临床应用法治化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合规门槛提高，前期灰色项目面临严格监管</a:t>
                      </a:r>
                    </a:p>
                  </a:txBody>
                  <a:tcPr marL="38100" marR="38100" marT="28575" marB="28575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zh-CN" sz="8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2026.5.1施行·</a:t>
                      </a:r>
                      <a:r>
                        <a:rPr lang="en-US" altLang="zh-CN" sz="8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8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批次</a:t>
                      </a:r>
                      <a:r>
                        <a:rPr lang="zh-CN" sz="8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LDT试点扩至29家三甲</a:t>
                      </a:r>
                      <a:r>
                        <a:rPr lang="zh-CN" altLang="en-US" sz="8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医院</a:t>
                      </a:r>
                      <a:endParaRPr lang="zh-CN" sz="800" b="0" i="0" dirty="0">
                        <a:solidFill>
                          <a:srgbClr val="C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8100" marR="38100" marT="28575" marB="28575" anchor="ctr"/>
                </a:tc>
                <a:extLst>
                  <a:ext uri="{0D108BD9-81ED-4DB2-BD59-A6C34878D82A}">
                    <a16:rowId xmlns:a16="http://schemas.microsoft.com/office/drawing/2014/main" val="533427796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907E2A22-6430-8B25-87D6-003E62B9EAF9}"/>
              </a:ext>
            </a:extLst>
          </p:cNvPr>
          <p:cNvSpPr txBox="1"/>
          <p:nvPr/>
        </p:nvSpPr>
        <p:spPr>
          <a:xfrm>
            <a:off x="465634" y="1948275"/>
            <a:ext cx="57916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控费持续加码，三方检测收入下降，合规成本上升，重点治理外送基因检测，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LDT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试点扩容。</a:t>
            </a:r>
            <a:endParaRPr kumimoji="1" lang="en-US" altLang="zh-CN" sz="1050" dirty="0">
              <a:solidFill>
                <a:srgbClr val="5A5A5A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Source Han Sans K Light" charset="-127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6BE44A4-1715-7665-1301-FB90483F7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43" y="1459303"/>
            <a:ext cx="2616399" cy="279328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545FE8A-7F32-6E27-46DA-2D0B7A799D3E}"/>
              </a:ext>
            </a:extLst>
          </p:cNvPr>
          <p:cNvSpPr txBox="1"/>
          <p:nvPr/>
        </p:nvSpPr>
        <p:spPr>
          <a:xfrm>
            <a:off x="7630345" y="962491"/>
            <a:ext cx="382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年医疗行业主要政策节点</a:t>
            </a:r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监管持续升级</a:t>
            </a:r>
            <a:endParaRPr kumimoji="1" lang="zh-CN" altLang="en-US" sz="1200" dirty="0">
              <a:solidFill>
                <a:srgbClr val="0050A0"/>
              </a:solidFill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5A00DF3-888A-2A89-A0BF-7806214DC671}"/>
              </a:ext>
            </a:extLst>
          </p:cNvPr>
          <p:cNvGrpSpPr/>
          <p:nvPr/>
        </p:nvGrpSpPr>
        <p:grpSpPr>
          <a:xfrm>
            <a:off x="573696" y="962491"/>
            <a:ext cx="2270087" cy="538609"/>
            <a:chOff x="573697" y="962491"/>
            <a:chExt cx="1704820" cy="538609"/>
          </a:xfrm>
        </p:grpSpPr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D83B9ECB-63C7-C5C8-4846-9917889063A9}"/>
                </a:ext>
              </a:extLst>
            </p:cNvPr>
            <p:cNvSpPr/>
            <p:nvPr/>
          </p:nvSpPr>
          <p:spPr>
            <a:xfrm>
              <a:off x="573697" y="974294"/>
              <a:ext cx="1677066" cy="492443"/>
            </a:xfrm>
            <a:prstGeom prst="roundRect">
              <a:avLst/>
            </a:prstGeom>
            <a:solidFill>
              <a:srgbClr val="C224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91BC60A-F93A-CB0A-F6EE-1FD72882E554}"/>
                </a:ext>
              </a:extLst>
            </p:cNvPr>
            <p:cNvSpPr txBox="1"/>
            <p:nvPr/>
          </p:nvSpPr>
          <p:spPr>
            <a:xfrm>
              <a:off x="601451" y="962491"/>
              <a:ext cx="1677066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2026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年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5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月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日</a:t>
              </a:r>
              <a:endParaRPr lang="zh-CN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818</a:t>
              </a:r>
              <a:r>
                <a:rPr lang="zh-CN" altLang="en-US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号令施行</a:t>
              </a:r>
            </a:p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ICL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业务分流，合规成本上升</a:t>
              </a:r>
              <a:endParaRPr lang="zh-CN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40A1C7C-F12C-A04F-1A07-46D0E2D3613D}"/>
              </a:ext>
            </a:extLst>
          </p:cNvPr>
          <p:cNvGrpSpPr/>
          <p:nvPr/>
        </p:nvGrpSpPr>
        <p:grpSpPr>
          <a:xfrm>
            <a:off x="2968483" y="980166"/>
            <a:ext cx="2139884" cy="538609"/>
            <a:chOff x="516007" y="853887"/>
            <a:chExt cx="1793439" cy="538609"/>
          </a:xfrm>
        </p:grpSpPr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2E70030C-631A-7052-99E6-4B0A0B7ED003}"/>
                </a:ext>
              </a:extLst>
            </p:cNvPr>
            <p:cNvSpPr/>
            <p:nvPr/>
          </p:nvSpPr>
          <p:spPr>
            <a:xfrm>
              <a:off x="516007" y="853887"/>
              <a:ext cx="1793439" cy="49244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3302458-EAAA-9A4E-773D-E5B459BB9AF4}"/>
                </a:ext>
              </a:extLst>
            </p:cNvPr>
            <p:cNvSpPr txBox="1"/>
            <p:nvPr/>
          </p:nvSpPr>
          <p:spPr>
            <a:xfrm>
              <a:off x="516007" y="853887"/>
              <a:ext cx="1793439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2026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年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2-7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月</a:t>
              </a:r>
              <a:endParaRPr lang="zh-CN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28</a:t>
              </a:r>
              <a:r>
                <a:rPr lang="zh-CN" altLang="en-US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肿标</a:t>
              </a:r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+</a:t>
              </a:r>
              <a:r>
                <a:rPr lang="zh-CN" altLang="en-US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甲功集采落地</a:t>
              </a:r>
              <a:endParaRPr lang="zh-CN" altLang="zh-CN" sz="11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IVD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价格承压</a:t>
              </a:r>
              <a:endParaRPr lang="zh-CN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177F2C5-5813-AE27-E8EB-27570B885A41}"/>
              </a:ext>
            </a:extLst>
          </p:cNvPr>
          <p:cNvGrpSpPr/>
          <p:nvPr/>
        </p:nvGrpSpPr>
        <p:grpSpPr>
          <a:xfrm>
            <a:off x="5211183" y="962491"/>
            <a:ext cx="2139884" cy="538609"/>
            <a:chOff x="4410708" y="981726"/>
            <a:chExt cx="1706803" cy="538609"/>
          </a:xfrm>
        </p:grpSpPr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7BC8988F-4203-7BC2-EC8C-6D8E41A20841}"/>
                </a:ext>
              </a:extLst>
            </p:cNvPr>
            <p:cNvSpPr/>
            <p:nvPr/>
          </p:nvSpPr>
          <p:spPr>
            <a:xfrm>
              <a:off x="4440445" y="986095"/>
              <a:ext cx="1677066" cy="492443"/>
            </a:xfrm>
            <a:prstGeom prst="roundRect">
              <a:avLst/>
            </a:prstGeom>
            <a:solidFill>
              <a:srgbClr val="E958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E49246B-FA98-FB40-DE80-D9E319FD9F61}"/>
                </a:ext>
              </a:extLst>
            </p:cNvPr>
            <p:cNvSpPr txBox="1"/>
            <p:nvPr/>
          </p:nvSpPr>
          <p:spPr>
            <a:xfrm>
              <a:off x="4410708" y="981726"/>
              <a:ext cx="1677066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2026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年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6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月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23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日</a:t>
              </a:r>
              <a:endParaRPr lang="zh-CN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第</a:t>
              </a:r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12</a:t>
              </a:r>
              <a:r>
                <a:rPr lang="zh-CN" altLang="en-US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批药品国采</a:t>
              </a:r>
              <a:endParaRPr lang="zh-CN" altLang="zh-CN" sz="11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药品集采，未覆盖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IVD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35E3EA4-8E55-8F57-C211-5FBCDFBF9CFF}"/>
              </a:ext>
            </a:extLst>
          </p:cNvPr>
          <p:cNvGrpSpPr/>
          <p:nvPr/>
        </p:nvGrpSpPr>
        <p:grpSpPr>
          <a:xfrm>
            <a:off x="7496102" y="4472399"/>
            <a:ext cx="1585578" cy="383120"/>
            <a:chOff x="437062" y="974294"/>
            <a:chExt cx="1190758" cy="219029"/>
          </a:xfrm>
        </p:grpSpPr>
        <p:sp>
          <p:nvSpPr>
            <p:cNvPr id="19" name="圆角矩形 18">
              <a:extLst>
                <a:ext uri="{FF2B5EF4-FFF2-40B4-BE49-F238E27FC236}">
                  <a16:creationId xmlns:a16="http://schemas.microsoft.com/office/drawing/2014/main" id="{A5649691-68B4-9E93-7924-20E4168E2417}"/>
                </a:ext>
              </a:extLst>
            </p:cNvPr>
            <p:cNvSpPr/>
            <p:nvPr/>
          </p:nvSpPr>
          <p:spPr>
            <a:xfrm>
              <a:off x="573697" y="974294"/>
              <a:ext cx="917489" cy="219029"/>
            </a:xfrm>
            <a:prstGeom prst="roundRect">
              <a:avLst/>
            </a:prstGeom>
            <a:solidFill>
              <a:srgbClr val="2A76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>
                <a:highlight>
                  <a:srgbClr val="FFFF00"/>
                </a:highlight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61CEF32-E5D0-B460-9AD0-EEF1FC204C26}"/>
                </a:ext>
              </a:extLst>
            </p:cNvPr>
            <p:cNvSpPr txBox="1"/>
            <p:nvPr/>
          </p:nvSpPr>
          <p:spPr>
            <a:xfrm>
              <a:off x="437062" y="1005785"/>
              <a:ext cx="1190758" cy="1495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形势研判</a:t>
              </a:r>
              <a:endParaRPr lang="zh-CN" altLang="zh-CN" sz="11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B93AC6F-C860-75C4-35B3-D5234F2733F0}"/>
              </a:ext>
            </a:extLst>
          </p:cNvPr>
          <p:cNvGrpSpPr/>
          <p:nvPr/>
        </p:nvGrpSpPr>
        <p:grpSpPr>
          <a:xfrm>
            <a:off x="9561753" y="4486718"/>
            <a:ext cx="1585578" cy="358411"/>
            <a:chOff x="437062" y="974294"/>
            <a:chExt cx="1190758" cy="219029"/>
          </a:xfrm>
        </p:grpSpPr>
        <p:sp>
          <p:nvSpPr>
            <p:cNvPr id="24" name="圆角矩形 23">
              <a:extLst>
                <a:ext uri="{FF2B5EF4-FFF2-40B4-BE49-F238E27FC236}">
                  <a16:creationId xmlns:a16="http://schemas.microsoft.com/office/drawing/2014/main" id="{71880E14-617B-2ABB-2EB2-9E31991C29C7}"/>
                </a:ext>
              </a:extLst>
            </p:cNvPr>
            <p:cNvSpPr/>
            <p:nvPr/>
          </p:nvSpPr>
          <p:spPr>
            <a:xfrm>
              <a:off x="573697" y="974294"/>
              <a:ext cx="917489" cy="219029"/>
            </a:xfrm>
            <a:prstGeom prst="roundRect">
              <a:avLst/>
            </a:prstGeom>
            <a:solidFill>
              <a:srgbClr val="C224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 dirty="0">
                <a:highlight>
                  <a:srgbClr val="FFFF00"/>
                </a:highlight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6E02AD6-4E17-2B30-7D60-948AD0ADD5AE}"/>
                </a:ext>
              </a:extLst>
            </p:cNvPr>
            <p:cNvSpPr txBox="1"/>
            <p:nvPr/>
          </p:nvSpPr>
          <p:spPr>
            <a:xfrm>
              <a:off x="437062" y="999210"/>
              <a:ext cx="1190758" cy="159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战略破局</a:t>
              </a:r>
              <a:endParaRPr lang="zh-CN" altLang="zh-CN" sz="11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86A871DE-C21C-D9CF-223B-FE8B5A4217AD}"/>
              </a:ext>
            </a:extLst>
          </p:cNvPr>
          <p:cNvSpPr txBox="1"/>
          <p:nvPr/>
        </p:nvSpPr>
        <p:spPr>
          <a:xfrm>
            <a:off x="7600294" y="4996704"/>
            <a:ext cx="1774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量价承压</a:t>
            </a:r>
            <a:endParaRPr kumimoji="1" lang="zh-CN" altLang="en-US" sz="1200" dirty="0">
              <a:solidFill>
                <a:srgbClr val="0050A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D264A5D-AEDE-C8D1-FDE0-C8E24DCC3EA9}"/>
              </a:ext>
            </a:extLst>
          </p:cNvPr>
          <p:cNvSpPr txBox="1"/>
          <p:nvPr/>
        </p:nvSpPr>
        <p:spPr>
          <a:xfrm>
            <a:off x="7600293" y="5248630"/>
            <a:ext cx="19614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集采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互认带来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量价双杀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”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。需要持续创新，优化产品结构。</a:t>
            </a:r>
            <a:endParaRPr kumimoji="1" lang="en-US" altLang="zh-CN" sz="1050" dirty="0">
              <a:solidFill>
                <a:srgbClr val="5A5A5A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Source Han Sans K Light" charset="-127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82AC420-9FC6-8196-F7C6-9D8BFEB844B1}"/>
              </a:ext>
            </a:extLst>
          </p:cNvPr>
          <p:cNvSpPr txBox="1"/>
          <p:nvPr/>
        </p:nvSpPr>
        <p:spPr>
          <a:xfrm>
            <a:off x="9655284" y="5978705"/>
            <a:ext cx="180101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拓展海外市场第二增长曲线，构建境外商业化能力。</a:t>
            </a:r>
            <a:endParaRPr kumimoji="1" lang="en-US" altLang="zh-CN" sz="1050" dirty="0">
              <a:solidFill>
                <a:srgbClr val="5A5A5A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Source Han Sans K Light" charset="-127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B2AEE45-1677-AD75-4538-A631E4108A87}"/>
              </a:ext>
            </a:extLst>
          </p:cNvPr>
          <p:cNvSpPr txBox="1"/>
          <p:nvPr/>
        </p:nvSpPr>
        <p:spPr>
          <a:xfrm>
            <a:off x="7605521" y="5664128"/>
            <a:ext cx="1774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合规刚性</a:t>
            </a:r>
            <a:endParaRPr kumimoji="1" lang="zh-CN" altLang="en-US" sz="1200" dirty="0">
              <a:solidFill>
                <a:srgbClr val="0050A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C567911-6CA2-667F-7B29-214AB3684435}"/>
              </a:ext>
            </a:extLst>
          </p:cNvPr>
          <p:cNvSpPr txBox="1"/>
          <p:nvPr/>
        </p:nvSpPr>
        <p:spPr>
          <a:xfrm>
            <a:off x="7605521" y="5916054"/>
            <a:ext cx="180101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818+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院外送检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飞检，合规成本上升为刚性支出，需全面升级合规体系。</a:t>
            </a:r>
            <a:endParaRPr kumimoji="1" lang="en-US" altLang="zh-CN" sz="1050" dirty="0">
              <a:solidFill>
                <a:srgbClr val="5A5A5A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Source Han Sans K Light" charset="-127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F1009D3-179E-BC28-3988-074D6BC3BF70}"/>
              </a:ext>
            </a:extLst>
          </p:cNvPr>
          <p:cNvSpPr txBox="1"/>
          <p:nvPr/>
        </p:nvSpPr>
        <p:spPr>
          <a:xfrm>
            <a:off x="9632121" y="5701706"/>
            <a:ext cx="1774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出海破局</a:t>
            </a:r>
            <a:endParaRPr kumimoji="1" lang="zh-CN" altLang="en-US" sz="1200" dirty="0">
              <a:solidFill>
                <a:srgbClr val="0050A0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627B602-C294-967B-0D9F-B93F6F44F430}"/>
              </a:ext>
            </a:extLst>
          </p:cNvPr>
          <p:cNvSpPr txBox="1"/>
          <p:nvPr/>
        </p:nvSpPr>
        <p:spPr>
          <a:xfrm>
            <a:off x="9655283" y="5273703"/>
            <a:ext cx="180101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把握行业洗牌窗口，并购整合优质管线与渠道。</a:t>
            </a:r>
            <a:endParaRPr kumimoji="1" lang="en-US" altLang="zh-CN" sz="1050" dirty="0">
              <a:solidFill>
                <a:srgbClr val="5A5A5A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Source Han Sans K Light" charset="-127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3F577D4-65C0-741A-012E-60E03AA3DF02}"/>
              </a:ext>
            </a:extLst>
          </p:cNvPr>
          <p:cNvSpPr txBox="1"/>
          <p:nvPr/>
        </p:nvSpPr>
        <p:spPr>
          <a:xfrm>
            <a:off x="9632121" y="4996704"/>
            <a:ext cx="1774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Ø"/>
            </a:pP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并购整合</a:t>
            </a:r>
            <a:endParaRPr kumimoji="1" lang="zh-CN" altLang="en-US" sz="1200" dirty="0">
              <a:solidFill>
                <a:srgbClr val="0050A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0E4B2B3-CD79-F7E2-C3DB-5C08973CA8D5}"/>
              </a:ext>
            </a:extLst>
          </p:cNvPr>
          <p:cNvSpPr txBox="1"/>
          <p:nvPr/>
        </p:nvSpPr>
        <p:spPr>
          <a:xfrm>
            <a:off x="445707" y="6517156"/>
            <a:ext cx="34366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数据来源：国家医保局、药监局、政府网站公示</a:t>
            </a:r>
            <a:endParaRPr kumimoji="1" lang="en-US" altLang="zh-CN" sz="1050" dirty="0">
              <a:solidFill>
                <a:srgbClr val="5A5A5A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Source Han Sans K Light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262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FDC0F-4B18-0B28-85AB-E205A7CAC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DF7CBF9-847D-87DE-B152-48338629B707}"/>
              </a:ext>
            </a:extLst>
          </p:cNvPr>
          <p:cNvSpPr txBox="1"/>
          <p:nvPr/>
        </p:nvSpPr>
        <p:spPr>
          <a:xfrm>
            <a:off x="387625" y="129869"/>
            <a:ext cx="10966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资本市场动态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78169F9-F06B-8FC3-E812-35252B3E5790}"/>
              </a:ext>
            </a:extLst>
          </p:cNvPr>
          <p:cNvGrpSpPr/>
          <p:nvPr/>
        </p:nvGrpSpPr>
        <p:grpSpPr>
          <a:xfrm>
            <a:off x="2592969" y="1221746"/>
            <a:ext cx="1692259" cy="538609"/>
            <a:chOff x="531273" y="1155960"/>
            <a:chExt cx="1692259" cy="538609"/>
          </a:xfrm>
        </p:grpSpPr>
        <p:sp>
          <p:nvSpPr>
            <p:cNvPr id="2" name="圆角矩形 1">
              <a:extLst>
                <a:ext uri="{FF2B5EF4-FFF2-40B4-BE49-F238E27FC236}">
                  <a16:creationId xmlns:a16="http://schemas.microsoft.com/office/drawing/2014/main" id="{6AF20649-4B8A-BEE2-97BD-7A582333AD11}"/>
                </a:ext>
              </a:extLst>
            </p:cNvPr>
            <p:cNvSpPr/>
            <p:nvPr/>
          </p:nvSpPr>
          <p:spPr>
            <a:xfrm>
              <a:off x="546466" y="1176945"/>
              <a:ext cx="1677066" cy="492443"/>
            </a:xfrm>
            <a:prstGeom prst="roundRect">
              <a:avLst/>
            </a:prstGeom>
            <a:solidFill>
              <a:srgbClr val="C224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03C854D-DED8-C80E-5290-C0FF88640142}"/>
                </a:ext>
              </a:extLst>
            </p:cNvPr>
            <p:cNvSpPr txBox="1"/>
            <p:nvPr/>
          </p:nvSpPr>
          <p:spPr>
            <a:xfrm>
              <a:off x="531273" y="1155960"/>
              <a:ext cx="1677066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2026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年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1-6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月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股股本融资</a:t>
              </a:r>
              <a:endParaRPr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2,161</a:t>
              </a:r>
              <a:r>
                <a:rPr lang="zh-CN" altLang="en-US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亿元</a:t>
              </a:r>
            </a:p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达到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2025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年全年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59%</a:t>
              </a:r>
              <a:endParaRPr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2A931540-5971-636A-2A77-8D6E6DA2A8BF}"/>
              </a:ext>
            </a:extLst>
          </p:cNvPr>
          <p:cNvGrpSpPr/>
          <p:nvPr/>
        </p:nvGrpSpPr>
        <p:grpSpPr>
          <a:xfrm>
            <a:off x="445707" y="1230150"/>
            <a:ext cx="1677066" cy="538609"/>
            <a:chOff x="516007" y="853887"/>
            <a:chExt cx="1793439" cy="538609"/>
          </a:xfrm>
        </p:grpSpPr>
        <p:sp>
          <p:nvSpPr>
            <p:cNvPr id="5" name="圆角矩形 4">
              <a:extLst>
                <a:ext uri="{FF2B5EF4-FFF2-40B4-BE49-F238E27FC236}">
                  <a16:creationId xmlns:a16="http://schemas.microsoft.com/office/drawing/2014/main" id="{A0108F18-1FDE-0D2E-DE01-DCD3919E5636}"/>
                </a:ext>
              </a:extLst>
            </p:cNvPr>
            <p:cNvSpPr/>
            <p:nvPr/>
          </p:nvSpPr>
          <p:spPr>
            <a:xfrm>
              <a:off x="516007" y="853887"/>
              <a:ext cx="1793439" cy="49244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08FE025-7AE8-39E4-FF49-BB43CC9415F8}"/>
                </a:ext>
              </a:extLst>
            </p:cNvPr>
            <p:cNvSpPr txBox="1"/>
            <p:nvPr/>
          </p:nvSpPr>
          <p:spPr>
            <a:xfrm>
              <a:off x="516007" y="853887"/>
              <a:ext cx="1793439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2026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年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1-6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月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股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IPO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融资</a:t>
              </a:r>
              <a:endParaRPr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868</a:t>
              </a:r>
              <a:r>
                <a:rPr lang="zh-CN" altLang="en-US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亿元</a:t>
              </a:r>
              <a:endParaRPr lang="zh-CN" altLang="zh-CN" sz="11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超过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2024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年全年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662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亿元</a:t>
              </a:r>
              <a:endParaRPr lang="zh-CN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A3E76E8-72DF-61F4-32B2-CF3E8D98B77A}"/>
              </a:ext>
            </a:extLst>
          </p:cNvPr>
          <p:cNvGrpSpPr/>
          <p:nvPr/>
        </p:nvGrpSpPr>
        <p:grpSpPr>
          <a:xfrm>
            <a:off x="7772188" y="1215159"/>
            <a:ext cx="1706802" cy="538609"/>
            <a:chOff x="8895199" y="1182154"/>
            <a:chExt cx="1706802" cy="538609"/>
          </a:xfrm>
        </p:grpSpPr>
        <p:sp>
          <p:nvSpPr>
            <p:cNvPr id="7" name="圆角矩形 6">
              <a:extLst>
                <a:ext uri="{FF2B5EF4-FFF2-40B4-BE49-F238E27FC236}">
                  <a16:creationId xmlns:a16="http://schemas.microsoft.com/office/drawing/2014/main" id="{8412A9A8-CBC8-213F-C0AA-AA6CE81CB022}"/>
                </a:ext>
              </a:extLst>
            </p:cNvPr>
            <p:cNvSpPr/>
            <p:nvPr/>
          </p:nvSpPr>
          <p:spPr>
            <a:xfrm>
              <a:off x="8924935" y="1186523"/>
              <a:ext cx="1677066" cy="492443"/>
            </a:xfrm>
            <a:prstGeom prst="roundRect">
              <a:avLst/>
            </a:prstGeom>
            <a:solidFill>
              <a:srgbClr val="E958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CFAD0AB-6643-FA7B-F30C-68B323656820}"/>
                </a:ext>
              </a:extLst>
            </p:cNvPr>
            <p:cNvSpPr txBox="1"/>
            <p:nvPr/>
          </p:nvSpPr>
          <p:spPr>
            <a:xfrm>
              <a:off x="8895199" y="1182154"/>
              <a:ext cx="1677066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2026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年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Q1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海外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BD</a:t>
              </a:r>
              <a:endParaRPr lang="zh-CN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614</a:t>
              </a:r>
              <a:r>
                <a:rPr lang="zh-CN" altLang="en-US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亿美元</a:t>
              </a:r>
              <a:endParaRPr lang="zh-CN" altLang="zh-CN" sz="11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全年预计将突破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1,600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亿美元</a:t>
              </a:r>
              <a:endParaRPr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9CDA822-B4A5-62C3-1979-D61E134394B5}"/>
              </a:ext>
            </a:extLst>
          </p:cNvPr>
          <p:cNvGrpSpPr/>
          <p:nvPr/>
        </p:nvGrpSpPr>
        <p:grpSpPr>
          <a:xfrm>
            <a:off x="5648561" y="1206636"/>
            <a:ext cx="1702019" cy="538609"/>
            <a:chOff x="8281670" y="1190609"/>
            <a:chExt cx="1702019" cy="538609"/>
          </a:xfrm>
        </p:grpSpPr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3C45EF7A-AD58-134E-F79D-E62E7E4C1F18}"/>
                </a:ext>
              </a:extLst>
            </p:cNvPr>
            <p:cNvSpPr/>
            <p:nvPr/>
          </p:nvSpPr>
          <p:spPr>
            <a:xfrm>
              <a:off x="8281670" y="1209844"/>
              <a:ext cx="1677066" cy="492443"/>
            </a:xfrm>
            <a:prstGeom prst="roundRect">
              <a:avLst/>
            </a:prstGeom>
            <a:solidFill>
              <a:srgbClr val="2A76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2236ACC-FEC4-DD18-8C35-E05043823E29}"/>
                </a:ext>
              </a:extLst>
            </p:cNvPr>
            <p:cNvSpPr txBox="1"/>
            <p:nvPr/>
          </p:nvSpPr>
          <p:spPr>
            <a:xfrm>
              <a:off x="8306623" y="1190609"/>
              <a:ext cx="1677066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2025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年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BD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总额</a:t>
              </a:r>
              <a:endParaRPr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1,357</a:t>
              </a:r>
              <a:r>
                <a:rPr lang="zh-CN" altLang="en-US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亿美元</a:t>
              </a:r>
              <a:endParaRPr lang="zh-CN" altLang="zh-CN" sz="11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占全球医药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BD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近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50%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6F97F46-3A07-D889-7E8A-41D30B992CC3}"/>
              </a:ext>
            </a:extLst>
          </p:cNvPr>
          <p:cNvSpPr txBox="1"/>
          <p:nvPr/>
        </p:nvSpPr>
        <p:spPr>
          <a:xfrm>
            <a:off x="369631" y="840383"/>
            <a:ext cx="4102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</a:t>
            </a:r>
            <a:r>
              <a:rPr kumimoji="1" lang="zh-CN" altLang="e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融资筑底回暖</a:t>
            </a:r>
            <a:endParaRPr kumimoji="1" lang="zh-CN" altLang="en-US" sz="1200" dirty="0">
              <a:solidFill>
                <a:srgbClr val="0050A0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07BD744-DCCD-8186-82F7-CED233CAB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24" y="2062396"/>
            <a:ext cx="4111808" cy="1846543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9D6CF3C-C5BB-C230-81DB-A0CADD88C1F2}"/>
              </a:ext>
            </a:extLst>
          </p:cNvPr>
          <p:cNvSpPr txBox="1"/>
          <p:nvPr/>
        </p:nvSpPr>
        <p:spPr>
          <a:xfrm>
            <a:off x="1234826" y="1798117"/>
            <a:ext cx="3725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股股本融资概况（截至</a:t>
            </a:r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月）</a:t>
            </a:r>
            <a:endParaRPr kumimoji="1" lang="zh-CN" altLang="en-US" sz="1200" dirty="0">
              <a:solidFill>
                <a:srgbClr val="0050A0"/>
              </a:solidFill>
            </a:endParaRPr>
          </a:p>
        </p:txBody>
      </p:sp>
      <p:graphicFrame>
        <p:nvGraphicFramePr>
          <p:cNvPr id="21" name="图表 20">
            <a:extLst>
              <a:ext uri="{FF2B5EF4-FFF2-40B4-BE49-F238E27FC236}">
                <a16:creationId xmlns:a16="http://schemas.microsoft.com/office/drawing/2014/main" id="{2A1EC1EA-1D03-1F49-B562-C5DAF0B9EF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3173000"/>
              </p:ext>
            </p:extLst>
          </p:nvPr>
        </p:nvGraphicFramePr>
        <p:xfrm>
          <a:off x="5501636" y="2016803"/>
          <a:ext cx="5852164" cy="2107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9D0CA1B8-6595-DFE1-69F3-6B0C1339CF23}"/>
              </a:ext>
            </a:extLst>
          </p:cNvPr>
          <p:cNvSpPr txBox="1"/>
          <p:nvPr/>
        </p:nvSpPr>
        <p:spPr>
          <a:xfrm>
            <a:off x="6439172" y="1812448"/>
            <a:ext cx="43728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历年中国创新药交易总金额（亿美元）、</a:t>
            </a:r>
            <a:r>
              <a:rPr kumimoji="1" lang="en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BD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数量（起）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ED7D53A9-E4E7-100A-29C4-3E4B54915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26" y="4389914"/>
            <a:ext cx="4448039" cy="2116622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75FF05E8-5D24-C08F-A9EF-B9DA6F0A9FDA}"/>
              </a:ext>
            </a:extLst>
          </p:cNvPr>
          <p:cNvSpPr txBox="1"/>
          <p:nvPr/>
        </p:nvSpPr>
        <p:spPr>
          <a:xfrm>
            <a:off x="590624" y="4003746"/>
            <a:ext cx="4214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VIX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恐慌指数大幅回落，原油回调，人民币升值至年内最高</a:t>
            </a:r>
            <a:endParaRPr kumimoji="1" lang="zh-CN" altLang="en-US" sz="1200" dirty="0">
              <a:solidFill>
                <a:srgbClr val="0050A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BDE00C3-BAD7-366B-3EAC-46C764F178F4}"/>
              </a:ext>
            </a:extLst>
          </p:cNvPr>
          <p:cNvSpPr txBox="1"/>
          <p:nvPr/>
        </p:nvSpPr>
        <p:spPr>
          <a:xfrm>
            <a:off x="1249907" y="4275943"/>
            <a:ext cx="26861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全球主要资产变动情况（截至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2026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月）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2A79729-747A-CEB0-7669-3FD3D13A5014}"/>
              </a:ext>
            </a:extLst>
          </p:cNvPr>
          <p:cNvSpPr txBox="1"/>
          <p:nvPr/>
        </p:nvSpPr>
        <p:spPr>
          <a:xfrm>
            <a:off x="5648561" y="4007080"/>
            <a:ext cx="5012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</a:t>
            </a:r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IVD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行业可比公司股价变动 </a:t>
            </a:r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整体弱于大盘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B923984-34C7-2599-AFCD-4563F368077F}"/>
              </a:ext>
            </a:extLst>
          </p:cNvPr>
          <p:cNvSpPr txBox="1"/>
          <p:nvPr/>
        </p:nvSpPr>
        <p:spPr>
          <a:xfrm>
            <a:off x="6651792" y="4321043"/>
            <a:ext cx="35518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2026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年以来可比公司股价波动情况（截至</a:t>
            </a:r>
            <a:r>
              <a:rPr kumimoji="1" lang="en-US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2026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</a:t>
            </a:r>
            <a:r>
              <a:rPr kumimoji="1" lang="en-US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月）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EE80C77-DD96-35B5-8B0C-8A2EA80FDD7C}"/>
              </a:ext>
            </a:extLst>
          </p:cNvPr>
          <p:cNvGrpSpPr/>
          <p:nvPr/>
        </p:nvGrpSpPr>
        <p:grpSpPr>
          <a:xfrm>
            <a:off x="5630965" y="4402901"/>
            <a:ext cx="6228363" cy="2241213"/>
            <a:chOff x="5484919" y="4444750"/>
            <a:chExt cx="5917464" cy="2186377"/>
          </a:xfrm>
        </p:grpSpPr>
        <p:graphicFrame>
          <p:nvGraphicFramePr>
            <p:cNvPr id="32" name="图表 31">
              <a:extLst>
                <a:ext uri="{FF2B5EF4-FFF2-40B4-BE49-F238E27FC236}">
                  <a16:creationId xmlns:a16="http://schemas.microsoft.com/office/drawing/2014/main" id="{8D2E1374-10BF-B40A-6858-E638E1388FE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79610139"/>
                </p:ext>
              </p:extLst>
            </p:nvPr>
          </p:nvGraphicFramePr>
          <p:xfrm>
            <a:off x="5501636" y="4444750"/>
            <a:ext cx="5900747" cy="218637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cxnSp>
          <p:nvCxnSpPr>
            <p:cNvPr id="35" name="直线连接符 34">
              <a:extLst>
                <a:ext uri="{FF2B5EF4-FFF2-40B4-BE49-F238E27FC236}">
                  <a16:creationId xmlns:a16="http://schemas.microsoft.com/office/drawing/2014/main" id="{33851F9A-3722-3C87-E661-2D517BCF2D89}"/>
                </a:ext>
              </a:extLst>
            </p:cNvPr>
            <p:cNvCxnSpPr>
              <a:cxnSpLocks/>
            </p:cNvCxnSpPr>
            <p:nvPr/>
          </p:nvCxnSpPr>
          <p:spPr>
            <a:xfrm>
              <a:off x="5484919" y="5330803"/>
              <a:ext cx="4991892" cy="0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5D27F9E8-E05A-9329-2214-687C128B5C1D}"/>
              </a:ext>
            </a:extLst>
          </p:cNvPr>
          <p:cNvSpPr txBox="1"/>
          <p:nvPr/>
        </p:nvSpPr>
        <p:spPr>
          <a:xfrm>
            <a:off x="5595512" y="899622"/>
            <a:ext cx="4102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创新药海外</a:t>
            </a:r>
            <a:r>
              <a:rPr kumimoji="1" lang="en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BD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历史性突破</a:t>
            </a:r>
            <a:endParaRPr kumimoji="1" lang="zh-CN" altLang="en-US" sz="1200" dirty="0">
              <a:solidFill>
                <a:srgbClr val="0050A0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84D75CF-4307-8689-3E07-F16F7FDAEA3B}"/>
              </a:ext>
            </a:extLst>
          </p:cNvPr>
          <p:cNvSpPr txBox="1"/>
          <p:nvPr/>
        </p:nvSpPr>
        <p:spPr>
          <a:xfrm>
            <a:off x="445707" y="6517156"/>
            <a:ext cx="28011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数据来源：中金公司研报、</a:t>
            </a:r>
            <a:r>
              <a:rPr kumimoji="1" lang="en-US" altLang="zh-CN" sz="1050" dirty="0" err="1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iFind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金融客户端</a:t>
            </a:r>
            <a:endParaRPr kumimoji="1" lang="en-US" altLang="zh-CN" sz="1050" dirty="0">
              <a:solidFill>
                <a:srgbClr val="5A5A5A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Source Han Sans K Light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5257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B3B91-ABCA-F0F3-F9DC-C5AF68611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D6705B8-0BA9-89B4-E7D5-9080FBDB0EC0}"/>
              </a:ext>
            </a:extLst>
          </p:cNvPr>
          <p:cNvSpPr txBox="1"/>
          <p:nvPr/>
        </p:nvSpPr>
        <p:spPr>
          <a:xfrm>
            <a:off x="387625" y="129869"/>
            <a:ext cx="10966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医疗健康一级市场融资</a:t>
            </a:r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医疗器械</a:t>
            </a:r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IPO</a:t>
            </a:r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</a:t>
            </a: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6066051C-649E-A925-E9CB-B9B01A8F6B8C}"/>
              </a:ext>
            </a:extLst>
          </p:cNvPr>
          <p:cNvSpPr/>
          <p:nvPr/>
        </p:nvSpPr>
        <p:spPr>
          <a:xfrm>
            <a:off x="523593" y="1317150"/>
            <a:ext cx="1677066" cy="492443"/>
          </a:xfrm>
          <a:prstGeom prst="roundRect">
            <a:avLst/>
          </a:prstGeom>
          <a:solidFill>
            <a:srgbClr val="C224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FFFF00"/>
              </a:highligh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8060F0-0FEA-D4E6-ED64-1F5C93675029}"/>
              </a:ext>
            </a:extLst>
          </p:cNvPr>
          <p:cNvSpPr txBox="1"/>
          <p:nvPr/>
        </p:nvSpPr>
        <p:spPr>
          <a:xfrm>
            <a:off x="551347" y="1305347"/>
            <a:ext cx="167706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年一级市场融资</a:t>
            </a:r>
            <a:endParaRPr lang="zh-CN" altLang="zh-CN" sz="9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893</a:t>
            </a:r>
            <a:r>
              <a:rPr lang="zh-CN" altLang="en-US" sz="11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亿元</a:t>
            </a:r>
            <a:endParaRPr lang="zh-CN" altLang="zh-CN" sz="11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理性回归，创新药驱动</a:t>
            </a:r>
            <a:endParaRPr lang="zh-CN" altLang="zh-CN" sz="9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BEEF5C5-3DA6-D0B0-160B-6FE94D1F5D0C}"/>
              </a:ext>
            </a:extLst>
          </p:cNvPr>
          <p:cNvGrpSpPr/>
          <p:nvPr/>
        </p:nvGrpSpPr>
        <p:grpSpPr>
          <a:xfrm>
            <a:off x="2314306" y="1324581"/>
            <a:ext cx="1677066" cy="538609"/>
            <a:chOff x="516007" y="853887"/>
            <a:chExt cx="1793439" cy="538609"/>
          </a:xfrm>
        </p:grpSpPr>
        <p:sp>
          <p:nvSpPr>
            <p:cNvPr id="5" name="圆角矩形 4">
              <a:extLst>
                <a:ext uri="{FF2B5EF4-FFF2-40B4-BE49-F238E27FC236}">
                  <a16:creationId xmlns:a16="http://schemas.microsoft.com/office/drawing/2014/main" id="{0DAE0D95-A845-10D9-2FEC-CFEDF2757787}"/>
                </a:ext>
              </a:extLst>
            </p:cNvPr>
            <p:cNvSpPr/>
            <p:nvPr/>
          </p:nvSpPr>
          <p:spPr>
            <a:xfrm>
              <a:off x="516007" y="853887"/>
              <a:ext cx="1793439" cy="49244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9BA6F33-3AE2-D9E4-F59B-F23559FE7C2F}"/>
                </a:ext>
              </a:extLst>
            </p:cNvPr>
            <p:cNvSpPr txBox="1"/>
            <p:nvPr/>
          </p:nvSpPr>
          <p:spPr>
            <a:xfrm>
              <a:off x="516007" y="853887"/>
              <a:ext cx="1793439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2026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年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Q1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融资总额约</a:t>
              </a:r>
              <a:endParaRPr lang="zh-CN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355</a:t>
              </a:r>
              <a:r>
                <a:rPr lang="zh-CN" altLang="en-US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亿元</a:t>
              </a:r>
              <a:endParaRPr lang="zh-CN" altLang="zh-CN" sz="11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同比增长约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50%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，持续回暖</a:t>
              </a:r>
              <a:endParaRPr lang="zh-CN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44ED76F-4923-6377-9C14-2C70166A4682}"/>
              </a:ext>
            </a:extLst>
          </p:cNvPr>
          <p:cNvGrpSpPr/>
          <p:nvPr/>
        </p:nvGrpSpPr>
        <p:grpSpPr>
          <a:xfrm>
            <a:off x="4108469" y="1324626"/>
            <a:ext cx="1706802" cy="538609"/>
            <a:chOff x="4360605" y="1324582"/>
            <a:chExt cx="1706802" cy="538609"/>
          </a:xfrm>
        </p:grpSpPr>
        <p:sp>
          <p:nvSpPr>
            <p:cNvPr id="7" name="圆角矩形 6">
              <a:extLst>
                <a:ext uri="{FF2B5EF4-FFF2-40B4-BE49-F238E27FC236}">
                  <a16:creationId xmlns:a16="http://schemas.microsoft.com/office/drawing/2014/main" id="{5544CDA1-C007-2C3E-793F-66228BCF449C}"/>
                </a:ext>
              </a:extLst>
            </p:cNvPr>
            <p:cNvSpPr/>
            <p:nvPr/>
          </p:nvSpPr>
          <p:spPr>
            <a:xfrm>
              <a:off x="4390341" y="1328951"/>
              <a:ext cx="1677066" cy="492443"/>
            </a:xfrm>
            <a:prstGeom prst="roundRect">
              <a:avLst/>
            </a:prstGeom>
            <a:solidFill>
              <a:srgbClr val="E958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1B3BFB8-FCD3-D1E8-FDF7-913959DED86F}"/>
                </a:ext>
              </a:extLst>
            </p:cNvPr>
            <p:cNvSpPr txBox="1"/>
            <p:nvPr/>
          </p:nvSpPr>
          <p:spPr>
            <a:xfrm>
              <a:off x="4360605" y="1324582"/>
              <a:ext cx="1677066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2026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年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Q1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平均融资额</a:t>
              </a:r>
              <a:endParaRPr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0.86</a:t>
              </a:r>
              <a:r>
                <a:rPr lang="zh-CN" altLang="en-US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亿元</a:t>
              </a:r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/</a:t>
              </a:r>
              <a:r>
                <a:rPr lang="zh-CN" altLang="en-US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起</a:t>
              </a:r>
              <a:endParaRPr lang="zh-CN" altLang="zh-CN" sz="11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融资额有所回升</a:t>
              </a:r>
              <a:endParaRPr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A00F265B-C33D-64FF-9666-0F6517FA8522}"/>
              </a:ext>
            </a:extLst>
          </p:cNvPr>
          <p:cNvGrpSpPr/>
          <p:nvPr/>
        </p:nvGrpSpPr>
        <p:grpSpPr>
          <a:xfrm>
            <a:off x="6431483" y="1294066"/>
            <a:ext cx="1702019" cy="538609"/>
            <a:chOff x="6201126" y="1176945"/>
            <a:chExt cx="1702019" cy="538609"/>
          </a:xfrm>
        </p:grpSpPr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93EA194A-7965-A3B8-0E71-79F3291CA1D7}"/>
                </a:ext>
              </a:extLst>
            </p:cNvPr>
            <p:cNvSpPr/>
            <p:nvPr/>
          </p:nvSpPr>
          <p:spPr>
            <a:xfrm>
              <a:off x="6201126" y="1196180"/>
              <a:ext cx="1677066" cy="492443"/>
            </a:xfrm>
            <a:prstGeom prst="roundRect">
              <a:avLst/>
            </a:prstGeom>
            <a:solidFill>
              <a:srgbClr val="2A76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0F11B92-DB9F-BA0C-E6A0-52BFB056098D}"/>
                </a:ext>
              </a:extLst>
            </p:cNvPr>
            <p:cNvSpPr txBox="1"/>
            <p:nvPr/>
          </p:nvSpPr>
          <p:spPr>
            <a:xfrm>
              <a:off x="6226079" y="1176945"/>
              <a:ext cx="1677066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2025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年医疗器械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IPO</a:t>
              </a:r>
            </a:p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7</a:t>
              </a:r>
              <a:r>
                <a:rPr lang="zh-CN" altLang="en-US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家</a:t>
              </a:r>
              <a:endParaRPr lang="zh-CN" altLang="zh-CN" sz="11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超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100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家企业排队候审</a:t>
              </a:r>
              <a:endParaRPr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D37EDCE-30D5-E96C-CA95-C86479B172D2}"/>
              </a:ext>
            </a:extLst>
          </p:cNvPr>
          <p:cNvGrpSpPr/>
          <p:nvPr/>
        </p:nvGrpSpPr>
        <p:grpSpPr>
          <a:xfrm>
            <a:off x="8341275" y="1290217"/>
            <a:ext cx="1702019" cy="538609"/>
            <a:chOff x="7989038" y="1176943"/>
            <a:chExt cx="1702019" cy="538609"/>
          </a:xfrm>
        </p:grpSpPr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6C91CF15-3219-03FD-0F4F-CE18A09000C0}"/>
                </a:ext>
              </a:extLst>
            </p:cNvPr>
            <p:cNvSpPr/>
            <p:nvPr/>
          </p:nvSpPr>
          <p:spPr>
            <a:xfrm>
              <a:off x="8013991" y="1196180"/>
              <a:ext cx="1677066" cy="492443"/>
            </a:xfrm>
            <a:prstGeom prst="roundRect">
              <a:avLst/>
            </a:prstGeom>
            <a:solidFill>
              <a:srgbClr val="135D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43E64E3-0538-2BE4-C272-C364E3DC3EDE}"/>
                </a:ext>
              </a:extLst>
            </p:cNvPr>
            <p:cNvSpPr txBox="1"/>
            <p:nvPr/>
          </p:nvSpPr>
          <p:spPr>
            <a:xfrm>
              <a:off x="7989038" y="1176943"/>
              <a:ext cx="1677066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2026H1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医疗器械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IPO</a:t>
              </a:r>
            </a:p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11</a:t>
              </a:r>
              <a:r>
                <a:rPr lang="zh-CN" altLang="en-US" sz="11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家</a:t>
              </a:r>
            </a:p>
            <a:p>
              <a:pPr algn="ctr"/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较</a:t>
              </a:r>
              <a:r>
                <a:rPr lang="en-US" altLang="zh-CN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2025</a:t>
              </a:r>
              <a:r>
                <a:rPr lang="zh-CN" altLang="en-US" sz="9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显著提升</a:t>
              </a:r>
              <a:endParaRPr lang="en-US" altLang="zh-CN" sz="9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aphicFrame>
        <p:nvGraphicFramePr>
          <p:cNvPr id="16" name="图表 15">
            <a:extLst>
              <a:ext uri="{FF2B5EF4-FFF2-40B4-BE49-F238E27FC236}">
                <a16:creationId xmlns:a16="http://schemas.microsoft.com/office/drawing/2014/main" id="{527CBE87-1687-2032-7014-C49500BA39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7075411"/>
              </p:ext>
            </p:extLst>
          </p:nvPr>
        </p:nvGraphicFramePr>
        <p:xfrm>
          <a:off x="546466" y="1960294"/>
          <a:ext cx="5268805" cy="2514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349C3E1-C70F-222B-424A-B244E2D42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952465"/>
              </p:ext>
            </p:extLst>
          </p:nvPr>
        </p:nvGraphicFramePr>
        <p:xfrm>
          <a:off x="574220" y="4625595"/>
          <a:ext cx="5241052" cy="1674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557">
                  <a:extLst>
                    <a:ext uri="{9D8B030D-6E8A-4147-A177-3AD203B41FA5}">
                      <a16:colId xmlns:a16="http://schemas.microsoft.com/office/drawing/2014/main" val="3074543726"/>
                    </a:ext>
                  </a:extLst>
                </a:gridCol>
                <a:gridCol w="948613">
                  <a:extLst>
                    <a:ext uri="{9D8B030D-6E8A-4147-A177-3AD203B41FA5}">
                      <a16:colId xmlns:a16="http://schemas.microsoft.com/office/drawing/2014/main" val="440509308"/>
                    </a:ext>
                  </a:extLst>
                </a:gridCol>
                <a:gridCol w="994514">
                  <a:extLst>
                    <a:ext uri="{9D8B030D-6E8A-4147-A177-3AD203B41FA5}">
                      <a16:colId xmlns:a16="http://schemas.microsoft.com/office/drawing/2014/main" val="2383983747"/>
                    </a:ext>
                  </a:extLst>
                </a:gridCol>
                <a:gridCol w="1147516">
                  <a:extLst>
                    <a:ext uri="{9D8B030D-6E8A-4147-A177-3AD203B41FA5}">
                      <a16:colId xmlns:a16="http://schemas.microsoft.com/office/drawing/2014/main" val="3124026663"/>
                    </a:ext>
                  </a:extLst>
                </a:gridCol>
                <a:gridCol w="1499852">
                  <a:extLst>
                    <a:ext uri="{9D8B030D-6E8A-4147-A177-3AD203B41FA5}">
                      <a16:colId xmlns:a16="http://schemas.microsoft.com/office/drawing/2014/main" val="214796525"/>
                    </a:ext>
                  </a:extLst>
                </a:gridCol>
              </a:tblGrid>
              <a:tr h="3762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年份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融资事件数</a:t>
                      </a:r>
                      <a:endParaRPr lang="en-US" altLang="zh-CN" sz="1000" b="1" i="0" u="none" strike="noStrike" dirty="0">
                        <a:solidFill>
                          <a:srgbClr val="FFFFFF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起）</a:t>
                      </a:r>
                      <a:endParaRPr lang="zh-CN" sz="1000" b="1" i="0" u="none" strike="noStrike" dirty="0">
                        <a:solidFill>
                          <a:srgbClr val="FFFFFF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融资总额</a:t>
                      </a:r>
                      <a:endParaRPr lang="en-US" altLang="zh-CN" sz="1000" b="1" i="0" u="none" strike="noStrike" dirty="0">
                        <a:solidFill>
                          <a:srgbClr val="FFFFFF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(亿元)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平均融资额</a:t>
                      </a:r>
                      <a:endParaRPr lang="en-US" altLang="zh-CN" sz="1000" b="1" i="0" u="none" strike="noStrike" dirty="0">
                        <a:solidFill>
                          <a:srgbClr val="FFFFFF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(亿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元</a:t>
                      </a:r>
                      <a:r>
                        <a:rPr 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/起)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核心特征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5705444"/>
                  </a:ext>
                </a:extLst>
              </a:tr>
              <a:tr h="1961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2,185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2,893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疫情红利期最活跃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26147434"/>
                  </a:ext>
                </a:extLst>
              </a:tr>
              <a:tr h="183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1,857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1,460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热度消退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92430124"/>
                  </a:ext>
                </a:extLst>
              </a:tr>
              <a:tr h="183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1,648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持续下滑，反腐冲击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1029099"/>
                  </a:ext>
                </a:extLst>
              </a:tr>
              <a:tr h="183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1,489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资本寒冬，IPO收紧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5967173"/>
                  </a:ext>
                </a:extLst>
              </a:tr>
              <a:tr h="183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1,586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理性回归，创新药驱动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97828961"/>
                  </a:ext>
                </a:extLst>
              </a:tr>
              <a:tr h="183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2026Q1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1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1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1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1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同比+50.5%开门红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68526195"/>
                  </a:ext>
                </a:extLst>
              </a:tr>
              <a:tr h="1837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1,500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1,400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持续回暖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8353843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E43774C6-BF97-0B9C-D19B-F8D2FB61D209}"/>
              </a:ext>
            </a:extLst>
          </p:cNvPr>
          <p:cNvSpPr txBox="1"/>
          <p:nvPr/>
        </p:nvSpPr>
        <p:spPr>
          <a:xfrm>
            <a:off x="486009" y="6474215"/>
            <a:ext cx="58959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数据来源：毕马威中国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KPMG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、医药魔方数据库</a:t>
            </a:r>
            <a:endParaRPr kumimoji="1" lang="en-US" altLang="zh-CN" sz="1050" dirty="0">
              <a:solidFill>
                <a:srgbClr val="5A5A5A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Source Han Sans K Light" charset="-127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16752F0-F1B9-F448-FDAE-5E03203DD7C6}"/>
              </a:ext>
            </a:extLst>
          </p:cNvPr>
          <p:cNvSpPr txBox="1"/>
          <p:nvPr/>
        </p:nvSpPr>
        <p:spPr>
          <a:xfrm>
            <a:off x="387625" y="919181"/>
            <a:ext cx="4102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中国医疗健康走出资本寒冬，市场持续回暖</a:t>
            </a:r>
            <a:endParaRPr kumimoji="1" lang="zh-CN" altLang="en-US" sz="1200" dirty="0">
              <a:solidFill>
                <a:srgbClr val="0050A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3EF3C00-07E1-C864-44B5-0A57E8CEB8EF}"/>
              </a:ext>
            </a:extLst>
          </p:cNvPr>
          <p:cNvSpPr txBox="1"/>
          <p:nvPr/>
        </p:nvSpPr>
        <p:spPr>
          <a:xfrm>
            <a:off x="6214871" y="919181"/>
            <a:ext cx="4102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医疗器械</a:t>
            </a:r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IPO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数量有所回升 </a:t>
            </a:r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聚焦硬科技医疗器械</a:t>
            </a:r>
            <a:endParaRPr kumimoji="1" lang="zh-CN" altLang="en-US" sz="1200" dirty="0">
              <a:solidFill>
                <a:srgbClr val="0050A0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0BD13F0-7558-1B52-2A2E-049F7FFDD4A9}"/>
              </a:ext>
            </a:extLst>
          </p:cNvPr>
          <p:cNvSpPr txBox="1"/>
          <p:nvPr/>
        </p:nvSpPr>
        <p:spPr>
          <a:xfrm>
            <a:off x="6214871" y="5422235"/>
            <a:ext cx="4102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近期</a:t>
            </a:r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IPO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受理的可比公司 </a:t>
            </a:r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擎科生物</a:t>
            </a:r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碧云天</a:t>
            </a:r>
            <a:endParaRPr kumimoji="1" lang="zh-CN" altLang="en-US" sz="1200" dirty="0">
              <a:solidFill>
                <a:srgbClr val="0050A0"/>
              </a:solidFill>
            </a:endParaRPr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D91E97DB-60C4-CCE6-26EC-A722216AE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24438"/>
              </p:ext>
            </p:extLst>
          </p:nvPr>
        </p:nvGraphicFramePr>
        <p:xfrm>
          <a:off x="6276814" y="5673977"/>
          <a:ext cx="5703375" cy="967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256">
                  <a:extLst>
                    <a:ext uri="{9D8B030D-6E8A-4147-A177-3AD203B41FA5}">
                      <a16:colId xmlns:a16="http://schemas.microsoft.com/office/drawing/2014/main" val="488901853"/>
                    </a:ext>
                  </a:extLst>
                </a:gridCol>
                <a:gridCol w="1898266">
                  <a:extLst>
                    <a:ext uri="{9D8B030D-6E8A-4147-A177-3AD203B41FA5}">
                      <a16:colId xmlns:a16="http://schemas.microsoft.com/office/drawing/2014/main" val="1774745029"/>
                    </a:ext>
                  </a:extLst>
                </a:gridCol>
                <a:gridCol w="2072853">
                  <a:extLst>
                    <a:ext uri="{9D8B030D-6E8A-4147-A177-3AD203B41FA5}">
                      <a16:colId xmlns:a16="http://schemas.microsoft.com/office/drawing/2014/main" val="1503251906"/>
                    </a:ext>
                  </a:extLst>
                </a:gridCol>
              </a:tblGrid>
              <a:tr h="2963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融资信息</a:t>
                      </a:r>
                      <a:endParaRPr lang="zh-CN" sz="900" b="1" i="0" u="none" strike="noStrike" dirty="0">
                        <a:solidFill>
                          <a:srgbClr val="FFFFFF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擎科生物</a:t>
                      </a:r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lang="en-US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申报受理</a:t>
                      </a:r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  <a:endParaRPr lang="zh-CN" sz="900" b="1" i="0" u="none" strike="noStrike" dirty="0">
                        <a:solidFill>
                          <a:srgbClr val="FFFFFF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碧云天</a:t>
                      </a:r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lang="en-US" altLang="zh-CN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申报受理</a:t>
                      </a:r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  <a:endParaRPr lang="zh-CN" sz="900" b="1" i="0" u="none" strike="noStrike" dirty="0">
                        <a:solidFill>
                          <a:srgbClr val="FFFFFF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84132972"/>
                  </a:ext>
                </a:extLst>
              </a:tr>
              <a:tr h="167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1A1A1A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行业类型</a:t>
                      </a:r>
                      <a:endParaRPr lang="zh-CN" sz="900" b="0" i="0" u="none" strike="noStrike" dirty="0">
                        <a:solidFill>
                          <a:srgbClr val="1A1A1A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基因合成</a:t>
                      </a:r>
                      <a:r>
                        <a:rPr lang="en-US" altLang="zh-CN" sz="9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Sanger</a:t>
                      </a:r>
                      <a:r>
                        <a:rPr lang="zh-CN" altLang="en-US" sz="9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测序</a:t>
                      </a:r>
                      <a:endParaRPr lang="zh-CN" sz="900" b="0" i="0" u="none" strike="noStrike" dirty="0">
                        <a:solidFill>
                          <a:srgbClr val="66666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科研试剂</a:t>
                      </a:r>
                      <a:endParaRPr lang="zh-CN" altLang="zh-CN" sz="900" b="0" i="0" u="none" strike="noStrike" dirty="0">
                        <a:solidFill>
                          <a:srgbClr val="66666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2409950"/>
                  </a:ext>
                </a:extLst>
              </a:tr>
              <a:tr h="167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1A1A1A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上市板块</a:t>
                      </a:r>
                      <a:endParaRPr lang="zh-CN" sz="900" b="0" i="0" u="none" strike="noStrike" dirty="0">
                        <a:solidFill>
                          <a:srgbClr val="1A1A1A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科创板</a:t>
                      </a:r>
                      <a:endParaRPr lang="zh-CN" sz="900" b="0" i="0" u="none" strike="noStrike" dirty="0">
                        <a:solidFill>
                          <a:srgbClr val="66666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科创板</a:t>
                      </a:r>
                      <a:endParaRPr lang="zh-CN" sz="900" b="0" i="0" u="none" strike="noStrike" dirty="0">
                        <a:solidFill>
                          <a:srgbClr val="66666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36662669"/>
                  </a:ext>
                </a:extLst>
              </a:tr>
              <a:tr h="167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1A1A1A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IPO募资金额</a:t>
                      </a:r>
                      <a:endParaRPr lang="zh-CN" sz="900" b="0" i="0" u="none" strike="noStrike" dirty="0">
                        <a:solidFill>
                          <a:srgbClr val="1A1A1A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10.0</a:t>
                      </a:r>
                      <a:r>
                        <a:rPr lang="en-US" altLang="zh-CN" sz="9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  <a:r>
                        <a:rPr lang="en-US" sz="9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亿</a:t>
                      </a:r>
                      <a:endParaRPr lang="zh-CN" sz="900" b="0" i="0" u="none" strike="noStrike" dirty="0">
                        <a:solidFill>
                          <a:srgbClr val="66666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8.00亿</a:t>
                      </a:r>
                      <a:endParaRPr lang="zh-CN" sz="900" b="0" i="0" u="none" strike="noStrike" dirty="0">
                        <a:solidFill>
                          <a:srgbClr val="66666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4908816"/>
                  </a:ext>
                </a:extLst>
              </a:tr>
              <a:tr h="167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1A1A1A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预计上市市值</a:t>
                      </a:r>
                      <a:endParaRPr lang="zh-CN" sz="900" b="0" i="0" u="none" strike="noStrike" dirty="0">
                        <a:solidFill>
                          <a:srgbClr val="1A1A1A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~40亿元</a:t>
                      </a:r>
                      <a:endParaRPr lang="zh-CN" sz="900" b="0" i="0" u="none" strike="noStrike" dirty="0">
                        <a:solidFill>
                          <a:srgbClr val="66666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666666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~80亿元</a:t>
                      </a:r>
                      <a:endParaRPr lang="zh-CN" sz="900" b="0" i="0" u="none" strike="noStrike" dirty="0">
                        <a:solidFill>
                          <a:srgbClr val="666666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6960711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C68153D2-7F14-39A4-C499-FE2D75C84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466172"/>
              </p:ext>
            </p:extLst>
          </p:nvPr>
        </p:nvGraphicFramePr>
        <p:xfrm>
          <a:off x="6276815" y="1956260"/>
          <a:ext cx="5703375" cy="32874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092">
                  <a:extLst>
                    <a:ext uri="{9D8B030D-6E8A-4147-A177-3AD203B41FA5}">
                      <a16:colId xmlns:a16="http://schemas.microsoft.com/office/drawing/2014/main" val="3572727878"/>
                    </a:ext>
                  </a:extLst>
                </a:gridCol>
                <a:gridCol w="819951">
                  <a:extLst>
                    <a:ext uri="{9D8B030D-6E8A-4147-A177-3AD203B41FA5}">
                      <a16:colId xmlns:a16="http://schemas.microsoft.com/office/drawing/2014/main" val="1217292882"/>
                    </a:ext>
                  </a:extLst>
                </a:gridCol>
                <a:gridCol w="1103662">
                  <a:extLst>
                    <a:ext uri="{9D8B030D-6E8A-4147-A177-3AD203B41FA5}">
                      <a16:colId xmlns:a16="http://schemas.microsoft.com/office/drawing/2014/main" val="2533047272"/>
                    </a:ext>
                  </a:extLst>
                </a:gridCol>
                <a:gridCol w="870519">
                  <a:extLst>
                    <a:ext uri="{9D8B030D-6E8A-4147-A177-3AD203B41FA5}">
                      <a16:colId xmlns:a16="http://schemas.microsoft.com/office/drawing/2014/main" val="3381995624"/>
                    </a:ext>
                  </a:extLst>
                </a:gridCol>
                <a:gridCol w="1846151">
                  <a:extLst>
                    <a:ext uri="{9D8B030D-6E8A-4147-A177-3AD203B41FA5}">
                      <a16:colId xmlns:a16="http://schemas.microsoft.com/office/drawing/2014/main" val="1328451858"/>
                    </a:ext>
                  </a:extLst>
                </a:gridCol>
              </a:tblGrid>
              <a:tr h="314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企业名称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证券代码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上市时间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1" i="0" u="none" strike="noStrike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上市板块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业务类型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89793637"/>
                  </a:ext>
                </a:extLst>
              </a:tr>
              <a:tr h="182303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</a:t>
                      </a:r>
                      <a:r>
                        <a:rPr lang="en-US" altLang="zh-CN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r>
                        <a:rPr lang="zh-CN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年医疗器械</a:t>
                      </a:r>
                      <a:r>
                        <a:rPr lang="en" altLang="zh-CN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IPO</a:t>
                      </a:r>
                      <a:r>
                        <a:rPr lang="zh-CN" altLang="en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</a:t>
                      </a:r>
                      <a:r>
                        <a:rPr lang="zh-CN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家，</a:t>
                      </a:r>
                      <a:r>
                        <a:rPr lang="en-US" altLang="zh-CN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家</a:t>
                      </a:r>
                      <a:r>
                        <a:rPr lang="en-US" altLang="zh-CN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IVD</a:t>
                      </a:r>
                      <a:r>
                        <a:rPr lang="zh-CN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zh-CN" altLang="zh-CN" sz="900" b="0" i="0" u="none" strike="noStrike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48241589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脑动极光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06681.HK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2025-01-08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港交所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医疗器械软件 / 数字疗法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09987819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超研股份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301602.SZ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2025-01-22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创业板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医学影像设备（超声）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5227675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威高血净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603014.SH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2025-05-19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沪市主板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血液净化医疗器械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49034475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Mirxes 觅瑞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02629.HK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2025-05-23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港交所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IVD / 分子诊断·癌症早筛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1706754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建发致新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301584.SZ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2025-09-25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创业板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医疗器械流通 · 医院 SPD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8549785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丹娜生物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920009.BJ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2025-11-03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北交所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IVD · 病原微生物诊断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71530907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健信超导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688805.SH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2025-12-24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科创板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MRI核心部件（超导磁体）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29491340"/>
                  </a:ext>
                </a:extLst>
              </a:tr>
              <a:tr h="216746"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</a:t>
                      </a:r>
                      <a:r>
                        <a:rPr lang="zh-CN" altLang="en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</a:t>
                      </a:r>
                      <a:r>
                        <a:rPr lang="en-US" altLang="zh-CN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H1</a:t>
                      </a:r>
                      <a:r>
                        <a:rPr lang="zh-CN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医疗器械</a:t>
                      </a:r>
                      <a:r>
                        <a:rPr lang="en" altLang="zh-CN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IPO</a:t>
                      </a:r>
                      <a:r>
                        <a:rPr lang="zh-CN" altLang="en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</a:t>
                      </a:r>
                      <a:r>
                        <a:rPr lang="zh-CN" alt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家）</a:t>
                      </a:r>
                      <a:endParaRPr lang="zh-CN" sz="900" b="0" i="0" u="none" strike="noStrike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0006179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精锋医疗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02675.HK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2026-01-08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港交所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手术机器人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43385590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爱伦医疗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920050.BJ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2026-01-21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北交所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一次性医用耗材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37199043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北芯生命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688712.SH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2026-02-05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科创板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心血管介入医疗器械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45673294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爱得科技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920180.BJ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2026-02-10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北交所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骨科耗材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25529152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海圣医疗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920166.BJ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2026-02-12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北交所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麻醉 / 监护类医疗器械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80809938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普昂医疗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920069.BJ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2026-03-27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北交所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糖尿病护理 / 给药输注 / 微创介入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23678419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德适生物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02526.HK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2026-03-30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港交所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医学影像AI软件及医疗设备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54840860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天星医疗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01609.HK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2026-05-05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港交所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运动医学医疗器械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02951540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可孚医疗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01187.HK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2026-05-06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港交所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家用 / 医用医疗器械及耗材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2963934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科莱瑞迪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920072.BJ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2026-06-29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北交所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放疗定位装置 / 康复辅助器械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8236548"/>
                  </a:ext>
                </a:extLst>
              </a:tr>
              <a:tr h="143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真健康医疗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02697.HK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2026-06-30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港交所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经皮穿刺 / 消融手术机器人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4594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082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43160-9C5D-7687-22D8-BC0845775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5E86FCF9-ADF6-86CF-00FC-B917009BC64F}"/>
              </a:ext>
            </a:extLst>
          </p:cNvPr>
          <p:cNvSpPr txBox="1"/>
          <p:nvPr/>
        </p:nvSpPr>
        <p:spPr>
          <a:xfrm>
            <a:off x="387625" y="129869"/>
            <a:ext cx="10966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大模型博弈（</a:t>
            </a:r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2025-2026</a:t>
            </a:r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EC5551D-85BA-9793-FD9C-74B96666B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78" y="1445205"/>
            <a:ext cx="263286" cy="452312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C62217C-0D5A-5443-C90E-5B5EC2D1CE1F}"/>
              </a:ext>
            </a:extLst>
          </p:cNvPr>
          <p:cNvSpPr txBox="1"/>
          <p:nvPr/>
        </p:nvSpPr>
        <p:spPr>
          <a:xfrm>
            <a:off x="387625" y="941425"/>
            <a:ext cx="4823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 err="1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AnthropicMythos</a:t>
            </a:r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/Fable5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出口管制事件</a:t>
            </a:r>
            <a:endParaRPr kumimoji="1" lang="en-US" altLang="zh-CN" sz="1200" b="1" dirty="0">
              <a:solidFill>
                <a:srgbClr val="005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智谱发布</a:t>
            </a:r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GLM-5.2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模型，市值超万亿港元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D72CA2-DBD7-7959-4E05-4839F937E1CE}"/>
              </a:ext>
            </a:extLst>
          </p:cNvPr>
          <p:cNvSpPr txBox="1"/>
          <p:nvPr/>
        </p:nvSpPr>
        <p:spPr>
          <a:xfrm>
            <a:off x="662779" y="1381330"/>
            <a:ext cx="3551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kumimoji="1" sz="100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zh-CN" b="1" dirty="0">
                <a:solidFill>
                  <a:srgbClr val="C00000"/>
                </a:solidFill>
              </a:rPr>
              <a:t>2026年6月11日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30810A-60E5-3338-E04D-79C4524FCA45}"/>
              </a:ext>
            </a:extLst>
          </p:cNvPr>
          <p:cNvSpPr txBox="1"/>
          <p:nvPr/>
        </p:nvSpPr>
        <p:spPr>
          <a:xfrm>
            <a:off x="662779" y="1572163"/>
            <a:ext cx="6122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" altLang="zh-CN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Anthropic</a:t>
            </a:r>
            <a:r>
              <a:rPr kumimoji="1" lang="zh-CN" altLang="en-US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发布</a:t>
            </a:r>
            <a:r>
              <a:rPr kumimoji="1" lang="en" altLang="zh-CN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Fable5</a:t>
            </a:r>
            <a:r>
              <a:rPr kumimoji="1" lang="zh-CN" altLang="en-US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与</a:t>
            </a:r>
            <a:r>
              <a:rPr kumimoji="1" lang="en" altLang="zh-CN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Mythos5——</a:t>
            </a:r>
            <a:r>
              <a:rPr kumimoji="1" lang="zh-CN" altLang="en-US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史上最强</a:t>
            </a:r>
            <a:r>
              <a:rPr kumimoji="1" lang="en" altLang="zh-CN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kumimoji="1" lang="zh-CN" altLang="en-US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模型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BC58E4-391C-87F6-DEB2-C15266450BF0}"/>
              </a:ext>
            </a:extLst>
          </p:cNvPr>
          <p:cNvSpPr txBox="1"/>
          <p:nvPr/>
        </p:nvSpPr>
        <p:spPr>
          <a:xfrm>
            <a:off x="662778" y="1762996"/>
            <a:ext cx="441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2026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</a:t>
            </a:r>
            <a:r>
              <a:rPr kumimoji="1" lang="en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Anthropic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发布两款旗舰模型</a:t>
            </a:r>
            <a:r>
              <a:rPr kumimoji="1" lang="en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ClaudeFable5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kumimoji="1" lang="en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Mythos5</a:t>
            </a:r>
            <a:r>
              <a:rPr kumimoji="1" lang="zh-CN" altLang="e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内部评估显示其为当前公开可用的能力最强</a:t>
            </a:r>
            <a:r>
              <a:rPr kumimoji="1" lang="en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模型。发布</a:t>
            </a:r>
            <a:r>
              <a:rPr kumimoji="1" lang="en-US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72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小时内引发巨大关注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879F26-F5CE-5552-F2EB-AA955D0A72E3}"/>
              </a:ext>
            </a:extLst>
          </p:cNvPr>
          <p:cNvSpPr txBox="1"/>
          <p:nvPr/>
        </p:nvSpPr>
        <p:spPr>
          <a:xfrm>
            <a:off x="662779" y="2347880"/>
            <a:ext cx="3551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kumimoji="1" sz="100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zh-CN" b="1" dirty="0">
                <a:solidFill>
                  <a:srgbClr val="C00000"/>
                </a:solidFill>
              </a:rPr>
              <a:t>2026年6月1</a:t>
            </a:r>
            <a:r>
              <a:rPr lang="en-US" altLang="zh-CN" b="1" dirty="0">
                <a:solidFill>
                  <a:srgbClr val="C00000"/>
                </a:solidFill>
              </a:rPr>
              <a:t>2-13</a:t>
            </a:r>
            <a:r>
              <a:rPr lang="zh-CN" altLang="zh-CN" b="1" dirty="0">
                <a:solidFill>
                  <a:srgbClr val="C00000"/>
                </a:solidFill>
              </a:rPr>
              <a:t>日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DA053D-E2BC-3CC3-E4B1-8F90AB31014C}"/>
              </a:ext>
            </a:extLst>
          </p:cNvPr>
          <p:cNvSpPr txBox="1"/>
          <p:nvPr/>
        </p:nvSpPr>
        <p:spPr>
          <a:xfrm>
            <a:off x="662779" y="2538713"/>
            <a:ext cx="6122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美国政府下达出口管制令</a:t>
            </a:r>
            <a:r>
              <a:rPr kumimoji="1" lang="en-US" altLang="zh-CN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——</a:t>
            </a:r>
            <a:r>
              <a:rPr kumimoji="1" lang="zh-CN" altLang="en-US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禁止所有外国用户访问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C0EBC1-4674-8916-B1A0-A70219B65567}"/>
              </a:ext>
            </a:extLst>
          </p:cNvPr>
          <p:cNvSpPr txBox="1"/>
          <p:nvPr/>
        </p:nvSpPr>
        <p:spPr>
          <a:xfrm>
            <a:off x="662778" y="2729546"/>
            <a:ext cx="44133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美国商务部以国家安全为由发布出口管制指令，要求</a:t>
            </a:r>
            <a:r>
              <a:rPr kumimoji="1" lang="en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Anthropic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立即暂停</a:t>
            </a:r>
            <a:r>
              <a:rPr kumimoji="1" lang="en-US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所有外国公民</a:t>
            </a:r>
            <a:r>
              <a:rPr kumimoji="1" lang="en-US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——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无论身处美国境内还是境外，包括</a:t>
            </a:r>
            <a:r>
              <a:rPr kumimoji="1" lang="en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Anthropic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公司的外国籍员工</a:t>
            </a:r>
            <a:r>
              <a:rPr kumimoji="1" lang="en-US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”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</a:t>
            </a:r>
            <a:r>
              <a:rPr kumimoji="1" lang="en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Fable5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kumimoji="1" lang="en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Mythos5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的访问权限。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BAA1788-4657-A214-5C74-0C6365BFC7F8}"/>
              </a:ext>
            </a:extLst>
          </p:cNvPr>
          <p:cNvSpPr txBox="1"/>
          <p:nvPr/>
        </p:nvSpPr>
        <p:spPr>
          <a:xfrm>
            <a:off x="662779" y="3380488"/>
            <a:ext cx="3551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kumimoji="1" sz="100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zh-CN" b="1" dirty="0">
                <a:solidFill>
                  <a:srgbClr val="C00000"/>
                </a:solidFill>
              </a:rPr>
              <a:t>2026年6月</a:t>
            </a:r>
            <a:r>
              <a:rPr lang="zh-CN" altLang="en-US" b="1" dirty="0">
                <a:solidFill>
                  <a:srgbClr val="C00000"/>
                </a:solidFill>
              </a:rPr>
              <a:t>中旬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6698CC-64B1-6194-072D-4CD88981DA30}"/>
              </a:ext>
            </a:extLst>
          </p:cNvPr>
          <p:cNvSpPr txBox="1"/>
          <p:nvPr/>
        </p:nvSpPr>
        <p:spPr>
          <a:xfrm>
            <a:off x="662779" y="3571321"/>
            <a:ext cx="6122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全球</a:t>
            </a:r>
            <a:r>
              <a:rPr kumimoji="1" lang="en" altLang="zh-CN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kumimoji="1" lang="zh-CN" altLang="en-US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产业震动</a:t>
            </a:r>
            <a:r>
              <a:rPr kumimoji="1" lang="en-US" altLang="zh-CN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——"</a:t>
            </a:r>
            <a:r>
              <a:rPr kumimoji="1" lang="en" altLang="zh-CN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kumimoji="1" lang="zh-CN" altLang="en-US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模型管控</a:t>
            </a:r>
            <a:r>
              <a:rPr kumimoji="1" lang="en-US" altLang="zh-CN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"</a:t>
            </a:r>
            <a:r>
              <a:rPr kumimoji="1" lang="zh-CN" altLang="en-US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时代开启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B5F567-916C-4155-7032-C10511DABEC9}"/>
              </a:ext>
            </a:extLst>
          </p:cNvPr>
          <p:cNvSpPr txBox="1"/>
          <p:nvPr/>
        </p:nvSpPr>
        <p:spPr>
          <a:xfrm>
            <a:off x="662778" y="3762154"/>
            <a:ext cx="441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事件引发全球关于</a:t>
            </a:r>
            <a:r>
              <a:rPr kumimoji="1" lang="en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技术主权、技术脱钩的激烈讨论。多国政府开始评估</a:t>
            </a:r>
            <a:r>
              <a:rPr kumimoji="1" lang="en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模型的战略意义。中国、欧盟加速推进本土大模型研发。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1939072-C6F5-6C04-41C0-9B833A79BF70}"/>
              </a:ext>
            </a:extLst>
          </p:cNvPr>
          <p:cNvSpPr txBox="1"/>
          <p:nvPr/>
        </p:nvSpPr>
        <p:spPr>
          <a:xfrm>
            <a:off x="662779" y="4220764"/>
            <a:ext cx="3551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kumimoji="1" sz="100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zh-CN" b="1" dirty="0">
                <a:solidFill>
                  <a:srgbClr val="C00000"/>
                </a:solidFill>
              </a:rPr>
              <a:t>2026年6月</a:t>
            </a:r>
            <a:r>
              <a:rPr lang="en-US" altLang="zh-CN" b="1" dirty="0">
                <a:solidFill>
                  <a:srgbClr val="C00000"/>
                </a:solidFill>
              </a:rPr>
              <a:t>17</a:t>
            </a:r>
            <a:r>
              <a:rPr lang="zh-CN" altLang="en-US" b="1" dirty="0">
                <a:solidFill>
                  <a:srgbClr val="C00000"/>
                </a:solidFill>
              </a:rPr>
              <a:t>日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B37CF25-571D-DAA2-FA11-A3456DBFC004}"/>
              </a:ext>
            </a:extLst>
          </p:cNvPr>
          <p:cNvSpPr txBox="1"/>
          <p:nvPr/>
        </p:nvSpPr>
        <p:spPr>
          <a:xfrm>
            <a:off x="662779" y="4411597"/>
            <a:ext cx="44133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中国公司智谱发布</a:t>
            </a:r>
            <a:r>
              <a:rPr kumimoji="1" lang="en-US" altLang="zh-CN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GLM-5.2</a:t>
            </a:r>
            <a:r>
              <a:rPr kumimoji="1" lang="zh-CN" altLang="en-US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模型</a:t>
            </a:r>
            <a:r>
              <a:rPr kumimoji="1" lang="en-US" altLang="zh-CN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——</a:t>
            </a:r>
            <a:r>
              <a:rPr kumimoji="1" lang="zh-CN" altLang="en-US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市值超万亿港元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64D5EBB-7CD6-C84A-9B18-F4038FB12DA4}"/>
              </a:ext>
            </a:extLst>
          </p:cNvPr>
          <p:cNvSpPr txBox="1"/>
          <p:nvPr/>
        </p:nvSpPr>
        <p:spPr>
          <a:xfrm>
            <a:off x="662778" y="4602430"/>
            <a:ext cx="44133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该模型跑分超过</a:t>
            </a:r>
            <a:r>
              <a:rPr kumimoji="1" lang="en-US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GPT-5.5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仅次于</a:t>
            </a:r>
            <a:r>
              <a:rPr kumimoji="1" lang="en-US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ClaudeFable5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r>
              <a:rPr kumimoji="1" lang="en-US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17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日马斯克在社交平台表示，智谱很可能在</a:t>
            </a:r>
            <a:r>
              <a:rPr kumimoji="1" lang="en-US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2027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年一季度赶上</a:t>
            </a:r>
            <a:r>
              <a:rPr kumimoji="1" lang="en-US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Anthropic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最新模型水平，后智谱市值一度冲高至</a:t>
            </a:r>
            <a:r>
              <a:rPr kumimoji="1" lang="en-US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万亿港元。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A774BFD-D9BD-FCBF-BBB6-3AE29C2882B4}"/>
              </a:ext>
            </a:extLst>
          </p:cNvPr>
          <p:cNvSpPr txBox="1"/>
          <p:nvPr/>
        </p:nvSpPr>
        <p:spPr>
          <a:xfrm>
            <a:off x="662779" y="5078884"/>
            <a:ext cx="3551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kumimoji="1" sz="100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zh-CN" b="1" dirty="0">
                <a:solidFill>
                  <a:srgbClr val="C00000"/>
                </a:solidFill>
              </a:rPr>
              <a:t>2026年</a:t>
            </a:r>
            <a:r>
              <a:rPr lang="en-US" altLang="zh-CN" b="1" dirty="0">
                <a:solidFill>
                  <a:srgbClr val="C00000"/>
                </a:solidFill>
              </a:rPr>
              <a:t>7</a:t>
            </a:r>
            <a:r>
              <a:rPr lang="zh-CN" altLang="zh-CN" b="1" dirty="0">
                <a:solidFill>
                  <a:srgbClr val="C00000"/>
                </a:solidFill>
              </a:rPr>
              <a:t>月</a:t>
            </a:r>
            <a:r>
              <a:rPr lang="zh-CN" altLang="en-US" b="1" dirty="0">
                <a:solidFill>
                  <a:srgbClr val="C00000"/>
                </a:solidFill>
              </a:rPr>
              <a:t>初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6DD89EE-8FB0-36C4-C507-34EAD205C266}"/>
              </a:ext>
            </a:extLst>
          </p:cNvPr>
          <p:cNvSpPr txBox="1"/>
          <p:nvPr/>
        </p:nvSpPr>
        <p:spPr>
          <a:xfrm>
            <a:off x="662779" y="5269717"/>
            <a:ext cx="6122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Anthropic</a:t>
            </a:r>
            <a:r>
              <a:rPr kumimoji="1" lang="zh-CN" altLang="en-US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出口管制解除</a:t>
            </a:r>
            <a:r>
              <a:rPr kumimoji="1" lang="en-US" altLang="zh-CN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——</a:t>
            </a:r>
            <a:r>
              <a:rPr kumimoji="1" lang="zh-CN" altLang="en-US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超</a:t>
            </a:r>
            <a:r>
              <a:rPr kumimoji="1" lang="en-US" altLang="zh-CN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</a:t>
            </a:r>
            <a:r>
              <a:rPr kumimoji="1" lang="zh-CN" altLang="en-US" sz="1000" b="1" dirty="0">
                <a:solidFill>
                  <a:srgbClr val="0050A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家机构获准使用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B483D3B-5026-73D3-D9DD-A097ECE4A000}"/>
              </a:ext>
            </a:extLst>
          </p:cNvPr>
          <p:cNvSpPr txBox="1"/>
          <p:nvPr/>
        </p:nvSpPr>
        <p:spPr>
          <a:xfrm>
            <a:off x="662778" y="5460550"/>
            <a:ext cx="44133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事件美国商务部正式解除对</a:t>
            </a:r>
            <a:r>
              <a:rPr kumimoji="1" lang="en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Fable5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kumimoji="1" lang="en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Mythos5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的出口限制，允许</a:t>
            </a:r>
            <a:r>
              <a:rPr kumimoji="1" lang="en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Anthropic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从周三起逐步恢复相关模型的访问权限。超</a:t>
            </a:r>
            <a:r>
              <a:rPr kumimoji="1" lang="en-US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家获政府批准的企业和联邦机构获准访问。持续近三周的</a:t>
            </a:r>
            <a:r>
              <a:rPr kumimoji="1" lang="en-US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"</a:t>
            </a:r>
            <a:r>
              <a:rPr kumimoji="1" lang="en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模型封禁风波</a:t>
            </a:r>
            <a:r>
              <a:rPr kumimoji="1" lang="en-US" altLang="zh-CN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"</a:t>
            </a:r>
            <a:r>
              <a:rPr kumimoji="1" lang="zh-CN" altLang="en-US" sz="100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暂告一段落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C0A9B62-477D-8A96-6402-94C9436261F8}"/>
              </a:ext>
            </a:extLst>
          </p:cNvPr>
          <p:cNvSpPr txBox="1"/>
          <p:nvPr/>
        </p:nvSpPr>
        <p:spPr>
          <a:xfrm>
            <a:off x="5874158" y="954366"/>
            <a:ext cx="2906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  <a:r>
              <a:rPr kumimoji="1" lang="en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大模型重大事件（</a:t>
            </a:r>
            <a:r>
              <a:rPr kumimoji="1" lang="en-US" altLang="zh-CN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2025-2026</a:t>
            </a:r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B052378-CFA8-AFD5-122A-F0129B698377}"/>
              </a:ext>
            </a:extLst>
          </p:cNvPr>
          <p:cNvSpPr txBox="1"/>
          <p:nvPr/>
        </p:nvSpPr>
        <p:spPr>
          <a:xfrm>
            <a:off x="7327438" y="4775206"/>
            <a:ext cx="2534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b="1" dirty="0">
                <a:solidFill>
                  <a:srgbClr val="005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药物研发、病理诊断、基因分析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C7D8F8C-66FB-BC73-741E-72D6C531940F}"/>
              </a:ext>
            </a:extLst>
          </p:cNvPr>
          <p:cNvSpPr txBox="1"/>
          <p:nvPr/>
        </p:nvSpPr>
        <p:spPr>
          <a:xfrm>
            <a:off x="6619050" y="5080840"/>
            <a:ext cx="4151951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ctr">
              <a:buFont typeface="+mj-ea"/>
              <a:buAutoNum type="circleNumDbPlain"/>
            </a:pP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大模型在药物研发、基因分析、临床诊断领域应用加速。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AI+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医疗（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辅助诊断、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药物设计）正成为产业竞争新赛道。</a:t>
            </a:r>
            <a:endParaRPr kumimoji="1" lang="en-US" altLang="zh-CN" sz="1050" dirty="0">
              <a:solidFill>
                <a:srgbClr val="5A5A5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28600" indent="-228600" algn="ctr">
              <a:buFont typeface="+mj-ea"/>
              <a:buAutoNum type="circleNumDbPlain"/>
            </a:pPr>
            <a:endParaRPr kumimoji="1" lang="zh-CN" altLang="en-US" sz="1050" dirty="0">
              <a:solidFill>
                <a:srgbClr val="5A5A5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28600" indent="-228600" algn="ctr">
              <a:buFont typeface="+mj-ea"/>
              <a:buAutoNum type="circleNumDbPlain"/>
            </a:pP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出口管制事件表明，依赖海外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模型存在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"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断供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"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风险。医疗企业应优先布局国产</a:t>
            </a:r>
            <a:r>
              <a:rPr kumimoji="1" lang="en-US" altLang="zh-CN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AI</a:t>
            </a:r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基础设施，降低对单一海外模型的依赖</a:t>
            </a:r>
            <a:endParaRPr kumimoji="1" lang="en-US" altLang="zh-CN" sz="1050" dirty="0">
              <a:solidFill>
                <a:srgbClr val="5A5A5A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BEB27EE-AE20-6672-DF88-E1A33548FC92}"/>
              </a:ext>
            </a:extLst>
          </p:cNvPr>
          <p:cNvGrpSpPr/>
          <p:nvPr/>
        </p:nvGrpSpPr>
        <p:grpSpPr>
          <a:xfrm>
            <a:off x="7801823" y="4325293"/>
            <a:ext cx="1585578" cy="358411"/>
            <a:chOff x="437062" y="974294"/>
            <a:chExt cx="1190758" cy="219029"/>
          </a:xfrm>
        </p:grpSpPr>
        <p:sp>
          <p:nvSpPr>
            <p:cNvPr id="27" name="圆角矩形 26">
              <a:extLst>
                <a:ext uri="{FF2B5EF4-FFF2-40B4-BE49-F238E27FC236}">
                  <a16:creationId xmlns:a16="http://schemas.microsoft.com/office/drawing/2014/main" id="{9F23AE51-BD76-05DF-857C-36A034FA928D}"/>
                </a:ext>
              </a:extLst>
            </p:cNvPr>
            <p:cNvSpPr/>
            <p:nvPr/>
          </p:nvSpPr>
          <p:spPr>
            <a:xfrm>
              <a:off x="573697" y="974294"/>
              <a:ext cx="917489" cy="219029"/>
            </a:xfrm>
            <a:prstGeom prst="roundRect">
              <a:avLst/>
            </a:prstGeom>
            <a:solidFill>
              <a:srgbClr val="C224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 dirty="0">
                <a:highlight>
                  <a:srgbClr val="FFFF00"/>
                </a:highlight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A8507B8-C085-7350-F478-D64852BC9892}"/>
                </a:ext>
              </a:extLst>
            </p:cNvPr>
            <p:cNvSpPr txBox="1"/>
            <p:nvPr/>
          </p:nvSpPr>
          <p:spPr>
            <a:xfrm>
              <a:off x="437062" y="999210"/>
              <a:ext cx="119075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sz="12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AI</a:t>
              </a:r>
              <a:r>
                <a:rPr lang="zh-CN" altLang="en-US" sz="1200" b="1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医疗行业启示</a:t>
              </a:r>
              <a:endParaRPr lang="zh-CN" altLang="zh-CN" sz="1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4457C5B8-9393-D9B3-46BD-A7F47482F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479600"/>
              </p:ext>
            </p:extLst>
          </p:nvPr>
        </p:nvGraphicFramePr>
        <p:xfrm>
          <a:off x="5960886" y="1524962"/>
          <a:ext cx="5392912" cy="2379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379">
                  <a:extLst>
                    <a:ext uri="{9D8B030D-6E8A-4147-A177-3AD203B41FA5}">
                      <a16:colId xmlns:a16="http://schemas.microsoft.com/office/drawing/2014/main" val="1057924215"/>
                    </a:ext>
                  </a:extLst>
                </a:gridCol>
                <a:gridCol w="2613977">
                  <a:extLst>
                    <a:ext uri="{9D8B030D-6E8A-4147-A177-3AD203B41FA5}">
                      <a16:colId xmlns:a16="http://schemas.microsoft.com/office/drawing/2014/main" val="1265993552"/>
                    </a:ext>
                  </a:extLst>
                </a:gridCol>
                <a:gridCol w="1954556">
                  <a:extLst>
                    <a:ext uri="{9D8B030D-6E8A-4147-A177-3AD203B41FA5}">
                      <a16:colId xmlns:a16="http://schemas.microsoft.com/office/drawing/2014/main" val="1759519791"/>
                    </a:ext>
                  </a:extLst>
                </a:gridCol>
              </a:tblGrid>
              <a:tr h="34731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时间</a:t>
                      </a:r>
                    </a:p>
                  </a:txBody>
                  <a:tcPr marL="76200" marR="762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事件</a:t>
                      </a:r>
                    </a:p>
                  </a:txBody>
                  <a:tcPr marL="76200" marR="762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1" i="0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影响</a:t>
                      </a:r>
                    </a:p>
                  </a:txBody>
                  <a:tcPr marL="76200" marR="76200" marT="95250" marB="95250" anchor="ctr"/>
                </a:tc>
                <a:extLst>
                  <a:ext uri="{0D108BD9-81ED-4DB2-BD59-A6C34878D82A}">
                    <a16:rowId xmlns:a16="http://schemas.microsoft.com/office/drawing/2014/main" val="3299769893"/>
                  </a:ext>
                </a:extLst>
              </a:tr>
              <a:tr h="4335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1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2025年初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DeepSeek-R1</a:t>
                      </a:r>
                      <a:r>
                        <a:rPr lang="zh-CN" sz="9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开源发布，性能比肩GPT-4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0" i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中国AI逆袭，引发"DeepSeek冲击波"</a:t>
                      </a:r>
                    </a:p>
                  </a:txBody>
                  <a:tcPr marL="76200" marR="76200" marT="85725" marB="85725" anchor="ctr"/>
                </a:tc>
                <a:extLst>
                  <a:ext uri="{0D108BD9-81ED-4DB2-BD59-A6C34878D82A}">
                    <a16:rowId xmlns:a16="http://schemas.microsoft.com/office/drawing/2014/main" val="3005338493"/>
                  </a:ext>
                </a:extLst>
              </a:tr>
              <a:tr h="34731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1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2025年中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OpenAI发布GPT-5，多模态能力突破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0" i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AI推理能力跃升，加速产业应用</a:t>
                      </a:r>
                    </a:p>
                  </a:txBody>
                  <a:tcPr marL="76200" marR="76200" marT="85725" marB="85725" anchor="ctr"/>
                </a:tc>
                <a:extLst>
                  <a:ext uri="{0D108BD9-81ED-4DB2-BD59-A6C34878D82A}">
                    <a16:rowId xmlns:a16="http://schemas.microsoft.com/office/drawing/2014/main" val="1018929324"/>
                  </a:ext>
                </a:extLst>
              </a:tr>
              <a:tr h="4335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1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2025年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中国大模型“百模大战”持续</a:t>
                      </a:r>
                      <a:r>
                        <a:rPr lang="zh-CN" altLang="en-US" sz="9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。</a:t>
                      </a:r>
                      <a:r>
                        <a:rPr lang="zh-CN" sz="9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通义、文心、智谱等加速迭代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国产大模型差距缩小至6-12个月</a:t>
                      </a:r>
                    </a:p>
                  </a:txBody>
                  <a:tcPr marL="76200" marR="76200" marT="85725" marB="85725" anchor="ctr"/>
                </a:tc>
                <a:extLst>
                  <a:ext uri="{0D108BD9-81ED-4DB2-BD59-A6C34878D82A}">
                    <a16:rowId xmlns:a16="http://schemas.microsoft.com/office/drawing/2014/main" val="3724920287"/>
                  </a:ext>
                </a:extLst>
              </a:tr>
              <a:tr h="34731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1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2026年Q1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AI</a:t>
                      </a:r>
                      <a:r>
                        <a:rPr lang="zh-CN" altLang="en-US" sz="9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zh-CN" sz="9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Agent</a:t>
                      </a:r>
                      <a:r>
                        <a:rPr lang="en-US" altLang="zh-CN" sz="9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lang="zh-CN" altLang="en-US" sz="9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小龙虾</a:t>
                      </a:r>
                      <a:r>
                        <a:rPr lang="en-US" altLang="zh-CN" sz="9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  <a:r>
                        <a:rPr lang="zh-CN" sz="900" b="0" i="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大规模商业化落地</a:t>
                      </a:r>
                      <a:endParaRPr lang="zh-CN" sz="900" b="0" i="0" dirty="0">
                        <a:solidFill>
                          <a:srgbClr val="C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企业级AI应用进入爆发期</a:t>
                      </a:r>
                    </a:p>
                  </a:txBody>
                  <a:tcPr marL="76200" marR="76200" marT="85725" marB="85725" anchor="ctr"/>
                </a:tc>
                <a:extLst>
                  <a:ext uri="{0D108BD9-81ED-4DB2-BD59-A6C34878D82A}">
                    <a16:rowId xmlns:a16="http://schemas.microsoft.com/office/drawing/2014/main" val="2360910077"/>
                  </a:ext>
                </a:extLst>
              </a:tr>
              <a:tr h="4335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1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2026年6月</a:t>
                      </a: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AnthropicFable5/Mythos5</a:t>
                      </a:r>
                      <a:r>
                        <a:rPr lang="zh-CN" sz="9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发布及出口管制风波</a:t>
                      </a:r>
                      <a:r>
                        <a:rPr lang="zh-CN" altLang="en-US" sz="9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zh-CN" altLang="en-US" sz="9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智谱</a:t>
                      </a:r>
                      <a:r>
                        <a:rPr lang="en-US" altLang="zh-CN" sz="900" b="0" i="0" dirty="0">
                          <a:solidFill>
                            <a:srgbClr val="C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GLM-5.2</a:t>
                      </a:r>
                      <a:r>
                        <a:rPr lang="zh-CN" altLang="en-US" sz="9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模型强势发布</a:t>
                      </a:r>
                      <a:endParaRPr lang="zh-CN" sz="900" b="0" i="0" dirty="0">
                        <a:solidFill>
                          <a:srgbClr val="1A1A2E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76200" marT="85725" marB="857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 b="0" i="0" dirty="0">
                          <a:solidFill>
                            <a:srgbClr val="1A1A2E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AI技术首次成为出口管制对象</a:t>
                      </a:r>
                    </a:p>
                  </a:txBody>
                  <a:tcPr marL="76200" marR="76200" marT="85725" marB="85725" anchor="ctr"/>
                </a:tc>
                <a:extLst>
                  <a:ext uri="{0D108BD9-81ED-4DB2-BD59-A6C34878D82A}">
                    <a16:rowId xmlns:a16="http://schemas.microsoft.com/office/drawing/2014/main" val="3721172928"/>
                  </a:ext>
                </a:extLst>
              </a:tr>
            </a:tbl>
          </a:graphicData>
        </a:graphic>
      </p:graphicFrame>
      <p:sp>
        <p:nvSpPr>
          <p:cNvPr id="34" name="文本框 33">
            <a:extLst>
              <a:ext uri="{FF2B5EF4-FFF2-40B4-BE49-F238E27FC236}">
                <a16:creationId xmlns:a16="http://schemas.microsoft.com/office/drawing/2014/main" id="{EBA56D7F-FD91-3A9D-F5B2-D72E9EAB65AD}"/>
              </a:ext>
            </a:extLst>
          </p:cNvPr>
          <p:cNvSpPr txBox="1"/>
          <p:nvPr/>
        </p:nvSpPr>
        <p:spPr>
          <a:xfrm>
            <a:off x="445477" y="6280852"/>
            <a:ext cx="23054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050" dirty="0">
                <a:solidFill>
                  <a:srgbClr val="5A5A5A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数据来源：公开信息</a:t>
            </a:r>
            <a:endParaRPr kumimoji="1" lang="en-US" altLang="zh-CN" sz="1050" dirty="0">
              <a:solidFill>
                <a:srgbClr val="5A5A5A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Source Han Sans K Light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124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02924" y="2096639"/>
            <a:ext cx="35702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  <a:endParaRPr kumimoji="1" lang="zh-CN" altLang="en-US" sz="60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54255" y="3090446"/>
            <a:ext cx="891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chemeClr val="bg1"/>
                </a:solidFill>
                <a:latin typeface="Barlow Light" pitchFamily="2" charset="0"/>
                <a:ea typeface="微软雅黑 Light" panose="020B0502040204020203" pitchFamily="34" charset="-122"/>
                <a:cs typeface="Source Han Sans K ExtraLight" charset="-127"/>
              </a:rPr>
              <a:t>2026.07</a:t>
            </a:r>
            <a:endParaRPr kumimoji="1" lang="zh-CN" altLang="en-US" sz="1600" dirty="0">
              <a:solidFill>
                <a:schemeClr val="bg1"/>
              </a:solidFill>
              <a:latin typeface="Barlow Light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 Light"/>
      <a:ea typeface="Calibri Light"/>
      <a:cs typeface="Calibri Light"/>
    </a:majorFont>
    <a:minorFont>
      <a:latin typeface="Calibri"/>
      <a:ea typeface="Calibri"/>
      <a:cs typeface="Calibri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>
        <a:solidFill>
          <a:schemeClr val="phClr">
            <a:shade val="95000"/>
            <a:satMod val="105000"/>
          </a:schemeClr>
        </a:solidFill>
        <a:prstDash val="solid"/>
      </a:ln>
      <a:ln w="25400">
        <a:solidFill>
          <a:schemeClr val="phClr"/>
        </a:solidFill>
        <a:prstDash val="solid"/>
      </a:ln>
      <a:ln w="38100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2122</Words>
  <Application>Microsoft Macintosh PowerPoint</Application>
  <PresentationFormat>宽屏</PresentationFormat>
  <Paragraphs>400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等线</vt:lpstr>
      <vt:lpstr>等线 Light</vt:lpstr>
      <vt:lpstr>Microsoft YaHei</vt:lpstr>
      <vt:lpstr>Microsoft YaHei</vt:lpstr>
      <vt:lpstr>微软雅黑 Light</vt:lpstr>
      <vt:lpstr>Arial</vt:lpstr>
      <vt:lpstr>Barlow Light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c37310</dc:creator>
  <cp:lastModifiedBy>李翊鹏(Yipeng Li)</cp:lastModifiedBy>
  <cp:revision>125</cp:revision>
  <dcterms:created xsi:type="dcterms:W3CDTF">2024-12-24T09:23:00Z</dcterms:created>
  <dcterms:modified xsi:type="dcterms:W3CDTF">2026-07-10T01:18:15Z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5E7B933BC1454C7B875D39580DBD69E3_12</vt:lpwstr>
  </property>
  <property fmtid="{D5CDD505-2E9C-101B-9397-08002B2CF9AE}" pid="3" name="KSOProductBuildVer">
    <vt:lpwstr>2052-12.1.0.21915</vt:lpwstr>
  </property>
</Properties>
</file>